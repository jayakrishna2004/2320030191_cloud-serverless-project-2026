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lice" panose="020B0604020202020204" charset="0"/>
      <p:regular r:id="rId14"/>
    </p:embeddedFont>
    <p:embeddedFont>
      <p:font typeface="KG Primary Penmanship" panose="020B0604020202020204" charset="0"/>
      <p:regular r:id="rId15"/>
    </p:embeddedFont>
    <p:embeddedFont>
      <p:font typeface="Times New Roman MT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46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14.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2.sv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12.sv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svg"/><Relationship Id="rId7"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1.svg"/><Relationship Id="rId10" Type="http://schemas.openxmlformats.org/officeDocument/2006/relationships/hyperlink" Target="http://serverless-notification-krishna.s3-website-us-east-1.amazonaws.com" TargetMode="External"/><Relationship Id="rId4" Type="http://schemas.openxmlformats.org/officeDocument/2006/relationships/image" Target="../media/image12.svg"/><Relationship Id="rId9"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12.svg"/><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2.svg"/><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svg"/><Relationship Id="rId7"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2.svg"/><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12.sv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8.svg"/><Relationship Id="rId3" Type="http://schemas.openxmlformats.org/officeDocument/2006/relationships/image" Target="../media/image2.svg"/><Relationship Id="rId7" Type="http://schemas.openxmlformats.org/officeDocument/2006/relationships/image" Target="../media/image12.svg"/><Relationship Id="rId12"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7.svg"/><Relationship Id="rId5" Type="http://schemas.openxmlformats.org/officeDocument/2006/relationships/image" Target="../media/image3.svg"/><Relationship Id="rId10" Type="http://schemas.openxmlformats.org/officeDocument/2006/relationships/image" Target="../media/image6.svg"/><Relationship Id="rId4" Type="http://schemas.openxmlformats.org/officeDocument/2006/relationships/image" Target="../media/image11.svg"/><Relationship Id="rId9"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49" r="-6250"/>
              </a:stretch>
            </a:blipFill>
          </p:spPr>
        </p:sp>
        <p:sp>
          <p:nvSpPr>
            <p:cNvPr id="4" name="Freeform 4"/>
            <p:cNvSpPr/>
            <p:nvPr/>
          </p:nvSpPr>
          <p:spPr>
            <a:xfrm>
              <a:off x="1219200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49" r="-6250"/>
              </a:stretch>
            </a:blipFill>
          </p:spPr>
        </p:sp>
      </p:grpSp>
      <p:sp>
        <p:nvSpPr>
          <p:cNvPr id="5" name="Freeform 5"/>
          <p:cNvSpPr/>
          <p:nvPr/>
        </p:nvSpPr>
        <p:spPr>
          <a:xfrm>
            <a:off x="-3944828" y="6988698"/>
            <a:ext cx="5397294" cy="5053830"/>
          </a:xfrm>
          <a:custGeom>
            <a:avLst/>
            <a:gdLst/>
            <a:ahLst/>
            <a:cxnLst/>
            <a:rect l="l" t="t" r="r" b="b"/>
            <a:pathLst>
              <a:path w="5397294" h="5053830">
                <a:moveTo>
                  <a:pt x="0" y="0"/>
                </a:moveTo>
                <a:lnTo>
                  <a:pt x="5397294" y="0"/>
                </a:lnTo>
                <a:lnTo>
                  <a:pt x="5397294" y="5053830"/>
                </a:lnTo>
                <a:lnTo>
                  <a:pt x="0" y="50538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1132344">
            <a:off x="2362961" y="8085669"/>
            <a:ext cx="2424753" cy="3344487"/>
          </a:xfrm>
          <a:custGeom>
            <a:avLst/>
            <a:gdLst/>
            <a:ahLst/>
            <a:cxnLst/>
            <a:rect l="l" t="t" r="r" b="b"/>
            <a:pathLst>
              <a:path w="2424753" h="3344487">
                <a:moveTo>
                  <a:pt x="0" y="0"/>
                </a:moveTo>
                <a:lnTo>
                  <a:pt x="2424753" y="0"/>
                </a:lnTo>
                <a:lnTo>
                  <a:pt x="2424753" y="3344487"/>
                </a:lnTo>
                <a:lnTo>
                  <a:pt x="0" y="334448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1301225">
            <a:off x="15408530" y="458853"/>
            <a:ext cx="1572058" cy="1809563"/>
          </a:xfrm>
          <a:custGeom>
            <a:avLst/>
            <a:gdLst/>
            <a:ahLst/>
            <a:cxnLst/>
            <a:rect l="l" t="t" r="r" b="b"/>
            <a:pathLst>
              <a:path w="1572058" h="1809563">
                <a:moveTo>
                  <a:pt x="0" y="0"/>
                </a:moveTo>
                <a:lnTo>
                  <a:pt x="1572058" y="0"/>
                </a:lnTo>
                <a:lnTo>
                  <a:pt x="1572058" y="1809563"/>
                </a:lnTo>
                <a:lnTo>
                  <a:pt x="0" y="180956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5960101" y="4577301"/>
            <a:ext cx="7253537" cy="581025"/>
          </a:xfrm>
          <a:prstGeom prst="rect">
            <a:avLst/>
          </a:prstGeom>
        </p:spPr>
        <p:txBody>
          <a:bodyPr lIns="0" tIns="0" rIns="0" bIns="0" rtlCol="0" anchor="t">
            <a:spAutoFit/>
          </a:bodyPr>
          <a:lstStyle/>
          <a:p>
            <a:pPr algn="ctr">
              <a:lnSpc>
                <a:spcPts val="4549"/>
              </a:lnSpc>
              <a:spcBef>
                <a:spcPct val="0"/>
              </a:spcBef>
            </a:pPr>
            <a:r>
              <a:rPr lang="en-US" sz="3791">
                <a:solidFill>
                  <a:srgbClr val="000000"/>
                </a:solidFill>
                <a:latin typeface="KG Primary Penmanship"/>
                <a:ea typeface="KG Primary Penmanship"/>
                <a:cs typeface="KG Primary Penmanship"/>
                <a:sym typeface="KG Primary Penmanship"/>
              </a:rPr>
              <a:t>Event-Driven Cloud-Based Alert System</a:t>
            </a:r>
          </a:p>
        </p:txBody>
      </p:sp>
      <p:sp>
        <p:nvSpPr>
          <p:cNvPr id="9" name="Freeform 9"/>
          <p:cNvSpPr/>
          <p:nvPr/>
        </p:nvSpPr>
        <p:spPr>
          <a:xfrm>
            <a:off x="-3038058" y="-2014178"/>
            <a:ext cx="4758414" cy="4455606"/>
          </a:xfrm>
          <a:custGeom>
            <a:avLst/>
            <a:gdLst/>
            <a:ahLst/>
            <a:cxnLst/>
            <a:rect l="l" t="t" r="r" b="b"/>
            <a:pathLst>
              <a:path w="4758414" h="4455606">
                <a:moveTo>
                  <a:pt x="0" y="0"/>
                </a:moveTo>
                <a:lnTo>
                  <a:pt x="4758414" y="0"/>
                </a:lnTo>
                <a:lnTo>
                  <a:pt x="4758414" y="4455606"/>
                </a:lnTo>
                <a:lnTo>
                  <a:pt x="0" y="445560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Freeform 10"/>
          <p:cNvSpPr/>
          <p:nvPr/>
        </p:nvSpPr>
        <p:spPr>
          <a:xfrm>
            <a:off x="561592" y="4879787"/>
            <a:ext cx="2651276" cy="1736586"/>
          </a:xfrm>
          <a:custGeom>
            <a:avLst/>
            <a:gdLst/>
            <a:ahLst/>
            <a:cxnLst/>
            <a:rect l="l" t="t" r="r" b="b"/>
            <a:pathLst>
              <a:path w="2651276" h="1736586">
                <a:moveTo>
                  <a:pt x="0" y="0"/>
                </a:moveTo>
                <a:lnTo>
                  <a:pt x="2651276" y="0"/>
                </a:lnTo>
                <a:lnTo>
                  <a:pt x="2651276" y="1736586"/>
                </a:lnTo>
                <a:lnTo>
                  <a:pt x="0" y="173658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1" name="Freeform 11"/>
          <p:cNvSpPr/>
          <p:nvPr/>
        </p:nvSpPr>
        <p:spPr>
          <a:xfrm rot="-1345632">
            <a:off x="816977" y="1318412"/>
            <a:ext cx="2807017" cy="2757895"/>
          </a:xfrm>
          <a:custGeom>
            <a:avLst/>
            <a:gdLst/>
            <a:ahLst/>
            <a:cxnLst/>
            <a:rect l="l" t="t" r="r" b="b"/>
            <a:pathLst>
              <a:path w="2807017" h="2757895">
                <a:moveTo>
                  <a:pt x="0" y="0"/>
                </a:moveTo>
                <a:lnTo>
                  <a:pt x="2807017" y="0"/>
                </a:lnTo>
                <a:lnTo>
                  <a:pt x="2807017" y="2757894"/>
                </a:lnTo>
                <a:lnTo>
                  <a:pt x="0" y="2757894"/>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2" name="Freeform 12"/>
          <p:cNvSpPr/>
          <p:nvPr/>
        </p:nvSpPr>
        <p:spPr>
          <a:xfrm rot="-642757">
            <a:off x="15706737" y="2324215"/>
            <a:ext cx="3105125" cy="2480219"/>
          </a:xfrm>
          <a:custGeom>
            <a:avLst/>
            <a:gdLst/>
            <a:ahLst/>
            <a:cxnLst/>
            <a:rect l="l" t="t" r="r" b="b"/>
            <a:pathLst>
              <a:path w="3105125" h="2480219">
                <a:moveTo>
                  <a:pt x="0" y="0"/>
                </a:moveTo>
                <a:lnTo>
                  <a:pt x="3105126" y="0"/>
                </a:lnTo>
                <a:lnTo>
                  <a:pt x="3105126" y="2480219"/>
                </a:lnTo>
                <a:lnTo>
                  <a:pt x="0" y="2480219"/>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3" name="Freeform 13"/>
          <p:cNvSpPr/>
          <p:nvPr/>
        </p:nvSpPr>
        <p:spPr>
          <a:xfrm>
            <a:off x="8344599" y="366195"/>
            <a:ext cx="2296991" cy="997440"/>
          </a:xfrm>
          <a:custGeom>
            <a:avLst/>
            <a:gdLst/>
            <a:ahLst/>
            <a:cxnLst/>
            <a:rect l="l" t="t" r="r" b="b"/>
            <a:pathLst>
              <a:path w="2296991" h="997440">
                <a:moveTo>
                  <a:pt x="0" y="0"/>
                </a:moveTo>
                <a:lnTo>
                  <a:pt x="2296991" y="0"/>
                </a:lnTo>
                <a:lnTo>
                  <a:pt x="2296991" y="997440"/>
                </a:lnTo>
                <a:lnTo>
                  <a:pt x="0" y="997440"/>
                </a:lnTo>
                <a:lnTo>
                  <a:pt x="0" y="0"/>
                </a:lnTo>
                <a:close/>
              </a:path>
            </a:pathLst>
          </a:custGeom>
          <a:blipFill>
            <a:blip r:embed="rId10"/>
            <a:stretch>
              <a:fillRect t="-30201"/>
            </a:stretch>
          </a:blipFill>
        </p:spPr>
      </p:sp>
      <p:grpSp>
        <p:nvGrpSpPr>
          <p:cNvPr id="14" name="Group 14"/>
          <p:cNvGrpSpPr/>
          <p:nvPr/>
        </p:nvGrpSpPr>
        <p:grpSpPr>
          <a:xfrm>
            <a:off x="5504608" y="4382802"/>
            <a:ext cx="8164523" cy="979548"/>
            <a:chOff x="0" y="0"/>
            <a:chExt cx="3387341" cy="406400"/>
          </a:xfrm>
        </p:grpSpPr>
        <p:sp>
          <p:nvSpPr>
            <p:cNvPr id="15" name="Freeform 15"/>
            <p:cNvSpPr/>
            <p:nvPr/>
          </p:nvSpPr>
          <p:spPr>
            <a:xfrm>
              <a:off x="0" y="0"/>
              <a:ext cx="3387341" cy="406400"/>
            </a:xfrm>
            <a:custGeom>
              <a:avLst/>
              <a:gdLst/>
              <a:ahLst/>
              <a:cxnLst/>
              <a:rect l="l" t="t" r="r" b="b"/>
              <a:pathLst>
                <a:path w="3387341" h="406400">
                  <a:moveTo>
                    <a:pt x="3184141" y="0"/>
                  </a:moveTo>
                  <a:cubicBezTo>
                    <a:pt x="3296365" y="0"/>
                    <a:pt x="3387341" y="90976"/>
                    <a:pt x="3387341" y="203200"/>
                  </a:cubicBezTo>
                  <a:cubicBezTo>
                    <a:pt x="3387341" y="315424"/>
                    <a:pt x="3296365" y="406400"/>
                    <a:pt x="3184141" y="406400"/>
                  </a:cubicBezTo>
                  <a:lnTo>
                    <a:pt x="203200" y="406400"/>
                  </a:lnTo>
                  <a:cubicBezTo>
                    <a:pt x="90976" y="406400"/>
                    <a:pt x="0" y="315424"/>
                    <a:pt x="0" y="203200"/>
                  </a:cubicBezTo>
                  <a:cubicBezTo>
                    <a:pt x="0" y="90976"/>
                    <a:pt x="90976" y="0"/>
                    <a:pt x="203200" y="0"/>
                  </a:cubicBezTo>
                  <a:close/>
                </a:path>
              </a:pathLst>
            </a:custGeom>
            <a:ln w="57150" cap="sq">
              <a:solidFill>
                <a:srgbClr val="000000"/>
              </a:solidFill>
              <a:prstDash val="solid"/>
              <a:miter/>
            </a:ln>
          </p:spPr>
        </p:sp>
        <p:sp>
          <p:nvSpPr>
            <p:cNvPr id="16" name="TextBox 16"/>
            <p:cNvSpPr txBox="1"/>
            <p:nvPr/>
          </p:nvSpPr>
          <p:spPr>
            <a:xfrm>
              <a:off x="0" y="-38100"/>
              <a:ext cx="3387341" cy="444500"/>
            </a:xfrm>
            <a:prstGeom prst="rect">
              <a:avLst/>
            </a:prstGeom>
          </p:spPr>
          <p:txBody>
            <a:bodyPr lIns="50800" tIns="50800" rIns="50800" bIns="50800" rtlCol="0" anchor="ctr"/>
            <a:lstStyle/>
            <a:p>
              <a:pPr algn="ctr">
                <a:lnSpc>
                  <a:spcPts val="2659"/>
                </a:lnSpc>
                <a:spcBef>
                  <a:spcPct val="0"/>
                </a:spcBef>
              </a:pPr>
              <a:endParaRPr/>
            </a:p>
          </p:txBody>
        </p:sp>
      </p:grpSp>
      <p:sp>
        <p:nvSpPr>
          <p:cNvPr id="17" name="Freeform 17"/>
          <p:cNvSpPr/>
          <p:nvPr/>
        </p:nvSpPr>
        <p:spPr>
          <a:xfrm>
            <a:off x="17259300" y="-2558990"/>
            <a:ext cx="5397294" cy="5053830"/>
          </a:xfrm>
          <a:custGeom>
            <a:avLst/>
            <a:gdLst/>
            <a:ahLst/>
            <a:cxnLst/>
            <a:rect l="l" t="t" r="r" b="b"/>
            <a:pathLst>
              <a:path w="5397294" h="5053830">
                <a:moveTo>
                  <a:pt x="0" y="0"/>
                </a:moveTo>
                <a:lnTo>
                  <a:pt x="5397294" y="0"/>
                </a:lnTo>
                <a:lnTo>
                  <a:pt x="5397294" y="5053829"/>
                </a:lnTo>
                <a:lnTo>
                  <a:pt x="0" y="50538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8" name="Freeform 18"/>
          <p:cNvSpPr/>
          <p:nvPr/>
        </p:nvSpPr>
        <p:spPr>
          <a:xfrm>
            <a:off x="17577698" y="7449457"/>
            <a:ext cx="5660224" cy="5300028"/>
          </a:xfrm>
          <a:custGeom>
            <a:avLst/>
            <a:gdLst/>
            <a:ahLst/>
            <a:cxnLst/>
            <a:rect l="l" t="t" r="r" b="b"/>
            <a:pathLst>
              <a:path w="5660224" h="5300028">
                <a:moveTo>
                  <a:pt x="0" y="0"/>
                </a:moveTo>
                <a:lnTo>
                  <a:pt x="5660224" y="0"/>
                </a:lnTo>
                <a:lnTo>
                  <a:pt x="5660224" y="5300028"/>
                </a:lnTo>
                <a:lnTo>
                  <a:pt x="0" y="5300028"/>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19" name="TextBox 19"/>
          <p:cNvSpPr txBox="1"/>
          <p:nvPr/>
        </p:nvSpPr>
        <p:spPr>
          <a:xfrm>
            <a:off x="4484098" y="1646871"/>
            <a:ext cx="10205542" cy="2513453"/>
          </a:xfrm>
          <a:prstGeom prst="rect">
            <a:avLst/>
          </a:prstGeom>
        </p:spPr>
        <p:txBody>
          <a:bodyPr lIns="0" tIns="0" rIns="0" bIns="0" rtlCol="0" anchor="t">
            <a:spAutoFit/>
          </a:bodyPr>
          <a:lstStyle/>
          <a:p>
            <a:pPr algn="ctr">
              <a:lnSpc>
                <a:spcPts val="8915"/>
              </a:lnSpc>
            </a:pPr>
            <a:r>
              <a:rPr lang="en-US" sz="9484" b="1">
                <a:solidFill>
                  <a:srgbClr val="FFDE59"/>
                </a:solidFill>
                <a:latin typeface="Times New Roman MT Bold"/>
                <a:ea typeface="Times New Roman MT Bold"/>
                <a:cs typeface="Times New Roman MT Bold"/>
                <a:sym typeface="Times New Roman MT Bold"/>
              </a:rPr>
              <a:t>Serverless Notification System</a:t>
            </a:r>
          </a:p>
        </p:txBody>
      </p:sp>
      <p:sp>
        <p:nvSpPr>
          <p:cNvPr id="20" name="TextBox 20"/>
          <p:cNvSpPr txBox="1"/>
          <p:nvPr/>
        </p:nvSpPr>
        <p:spPr>
          <a:xfrm>
            <a:off x="3739162" y="5584828"/>
            <a:ext cx="12380390" cy="1406362"/>
          </a:xfrm>
          <a:prstGeom prst="rect">
            <a:avLst/>
          </a:prstGeom>
        </p:spPr>
        <p:txBody>
          <a:bodyPr lIns="0" tIns="0" rIns="0" bIns="0" rtlCol="0" anchor="t">
            <a:spAutoFit/>
          </a:bodyPr>
          <a:lstStyle/>
          <a:p>
            <a:pPr algn="ctr">
              <a:lnSpc>
                <a:spcPts val="3759"/>
              </a:lnSpc>
              <a:spcBef>
                <a:spcPct val="0"/>
              </a:spcBef>
            </a:pPr>
            <a:r>
              <a:rPr lang="en-US" sz="3132">
                <a:solidFill>
                  <a:srgbClr val="000000"/>
                </a:solidFill>
                <a:latin typeface="KG Primary Penmanship"/>
                <a:ea typeface="KG Primary Penmanship"/>
                <a:cs typeface="KG Primary Penmanship"/>
                <a:sym typeface="KG Primary Penmanship"/>
              </a:rPr>
              <a:t>This project is a cloud-based notification system that allows users to send messages instantly through email. It is built using AWS serverless technologies and provides a simple and efficient way to automate communication.</a:t>
            </a:r>
          </a:p>
        </p:txBody>
      </p:sp>
      <p:sp>
        <p:nvSpPr>
          <p:cNvPr id="21" name="TextBox 21"/>
          <p:cNvSpPr txBox="1"/>
          <p:nvPr/>
        </p:nvSpPr>
        <p:spPr>
          <a:xfrm>
            <a:off x="13532383" y="8146846"/>
            <a:ext cx="3726917" cy="1798938"/>
          </a:xfrm>
          <a:prstGeom prst="rect">
            <a:avLst/>
          </a:prstGeom>
        </p:spPr>
        <p:txBody>
          <a:bodyPr lIns="0" tIns="0" rIns="0" bIns="0" rtlCol="0" anchor="t">
            <a:spAutoFit/>
          </a:bodyPr>
          <a:lstStyle/>
          <a:p>
            <a:pPr algn="ctr">
              <a:lnSpc>
                <a:spcPts val="2882"/>
              </a:lnSpc>
            </a:pPr>
            <a:r>
              <a:rPr lang="en-US" sz="2402">
                <a:solidFill>
                  <a:srgbClr val="000000"/>
                </a:solidFill>
                <a:latin typeface="KG Primary Penmanship"/>
                <a:ea typeface="KG Primary Penmanship"/>
                <a:cs typeface="KG Primary Penmanship"/>
                <a:sym typeface="KG Primary Penmanship"/>
              </a:rPr>
              <a:t>Team Members Names</a:t>
            </a:r>
          </a:p>
          <a:p>
            <a:pPr algn="ctr">
              <a:lnSpc>
                <a:spcPts val="2882"/>
              </a:lnSpc>
            </a:pPr>
            <a:r>
              <a:rPr lang="en-US" sz="2402">
                <a:solidFill>
                  <a:srgbClr val="000000"/>
                </a:solidFill>
                <a:latin typeface="KG Primary Penmanship"/>
                <a:ea typeface="KG Primary Penmanship"/>
                <a:cs typeface="KG Primary Penmanship"/>
                <a:sym typeface="KG Primary Penmanship"/>
              </a:rPr>
              <a:t>Dundigal Mahith - 2320030165</a:t>
            </a:r>
          </a:p>
          <a:p>
            <a:pPr algn="ctr">
              <a:lnSpc>
                <a:spcPts val="2882"/>
              </a:lnSpc>
            </a:pPr>
            <a:r>
              <a:rPr lang="en-US" sz="2402">
                <a:solidFill>
                  <a:srgbClr val="000000"/>
                </a:solidFill>
                <a:latin typeface="KG Primary Penmanship"/>
                <a:ea typeface="KG Primary Penmanship"/>
                <a:cs typeface="KG Primary Penmanship"/>
                <a:sym typeface="KG Primary Penmanship"/>
              </a:rPr>
              <a:t>Kalisiti Jayakrishna - 2320030191</a:t>
            </a:r>
          </a:p>
          <a:p>
            <a:pPr algn="ctr">
              <a:lnSpc>
                <a:spcPts val="2882"/>
              </a:lnSpc>
            </a:pPr>
            <a:r>
              <a:rPr lang="en-US" sz="2402">
                <a:solidFill>
                  <a:srgbClr val="000000"/>
                </a:solidFill>
                <a:latin typeface="KG Primary Penmanship"/>
                <a:ea typeface="KG Primary Penmanship"/>
                <a:cs typeface="KG Primary Penmanship"/>
                <a:sym typeface="KG Primary Penmanship"/>
              </a:rPr>
              <a:t>M Sathvik Reddy - 2320030162</a:t>
            </a:r>
          </a:p>
          <a:p>
            <a:pPr algn="ctr">
              <a:lnSpc>
                <a:spcPts val="2882"/>
              </a:lnSpc>
              <a:spcBef>
                <a:spcPct val="0"/>
              </a:spcBef>
            </a:pPr>
            <a:r>
              <a:rPr lang="en-US" sz="2402">
                <a:solidFill>
                  <a:srgbClr val="000000"/>
                </a:solidFill>
                <a:latin typeface="KG Primary Penmanship"/>
                <a:ea typeface="KG Primary Penmanship"/>
                <a:cs typeface="KG Primary Penmanship"/>
                <a:sym typeface="KG Primary Penmanship"/>
              </a:rPr>
              <a:t>B Kushal - 2320030214</a:t>
            </a:r>
          </a:p>
        </p:txBody>
      </p:sp>
      <p:sp>
        <p:nvSpPr>
          <p:cNvPr id="22" name="TextBox 22"/>
          <p:cNvSpPr txBox="1"/>
          <p:nvPr/>
        </p:nvSpPr>
        <p:spPr>
          <a:xfrm>
            <a:off x="4688564" y="7307160"/>
            <a:ext cx="9535885" cy="1428750"/>
          </a:xfrm>
          <a:prstGeom prst="rect">
            <a:avLst/>
          </a:prstGeom>
        </p:spPr>
        <p:txBody>
          <a:bodyPr lIns="0" tIns="0" rIns="0" bIns="0" rtlCol="0" anchor="t">
            <a:spAutoFit/>
          </a:bodyPr>
          <a:lstStyle/>
          <a:p>
            <a:pPr algn="ctr">
              <a:lnSpc>
                <a:spcPts val="3759"/>
              </a:lnSpc>
            </a:pPr>
            <a:r>
              <a:rPr lang="en-US" sz="3132">
                <a:solidFill>
                  <a:srgbClr val="000000"/>
                </a:solidFill>
                <a:latin typeface="KG Primary Penmanship"/>
                <a:ea typeface="KG Primary Penmanship"/>
                <a:cs typeface="KG Primary Penmanship"/>
                <a:sym typeface="KG Primary Penmanship"/>
              </a:rPr>
              <a:t>Under the Department of Computer Science and Engineering (Specialization in Cloud and Edge Computing)</a:t>
            </a:r>
          </a:p>
          <a:p>
            <a:pPr algn="ctr">
              <a:lnSpc>
                <a:spcPts val="3759"/>
              </a:lnSpc>
              <a:spcBef>
                <a:spcPct val="0"/>
              </a:spcBef>
            </a:pPr>
            <a:r>
              <a:rPr lang="en-US" sz="3132">
                <a:solidFill>
                  <a:srgbClr val="000000"/>
                </a:solidFill>
                <a:latin typeface="KG Primary Penmanship"/>
                <a:ea typeface="KG Primary Penmanship"/>
                <a:cs typeface="KG Primary Penmanship"/>
                <a:sym typeface="KG Primary Penmanship"/>
              </a:rPr>
              <a:t> M/s. G. Lavanya &amp; G Madhu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sp>
          <p:nvSpPr>
            <p:cNvPr id="4" name="Freeform 4"/>
            <p:cNvSpPr/>
            <p:nvPr/>
          </p:nvSpPr>
          <p:spPr>
            <a:xfrm>
              <a:off x="1219200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grpSp>
      <p:sp>
        <p:nvSpPr>
          <p:cNvPr id="5" name="Freeform 5"/>
          <p:cNvSpPr/>
          <p:nvPr/>
        </p:nvSpPr>
        <p:spPr>
          <a:xfrm>
            <a:off x="2839935" y="-4534254"/>
            <a:ext cx="6576184" cy="6157700"/>
          </a:xfrm>
          <a:custGeom>
            <a:avLst/>
            <a:gdLst/>
            <a:ahLst/>
            <a:cxnLst/>
            <a:rect l="l" t="t" r="r" b="b"/>
            <a:pathLst>
              <a:path w="6576184" h="6157700">
                <a:moveTo>
                  <a:pt x="0" y="0"/>
                </a:moveTo>
                <a:lnTo>
                  <a:pt x="6576185" y="0"/>
                </a:lnTo>
                <a:lnTo>
                  <a:pt x="6576185" y="6157700"/>
                </a:lnTo>
                <a:lnTo>
                  <a:pt x="0" y="61577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157623" y="1744833"/>
            <a:ext cx="9262664" cy="1577412"/>
          </a:xfrm>
          <a:prstGeom prst="rect">
            <a:avLst/>
          </a:prstGeom>
        </p:spPr>
        <p:txBody>
          <a:bodyPr lIns="0" tIns="0" rIns="0" bIns="0" rtlCol="0" anchor="t">
            <a:spAutoFit/>
          </a:bodyPr>
          <a:lstStyle/>
          <a:p>
            <a:pPr algn="l">
              <a:lnSpc>
                <a:spcPts val="10840"/>
              </a:lnSpc>
            </a:pPr>
            <a:r>
              <a:rPr lang="en-US" sz="9509" b="1">
                <a:solidFill>
                  <a:srgbClr val="000000"/>
                </a:solidFill>
                <a:latin typeface="Times New Roman MT Bold"/>
                <a:ea typeface="Times New Roman MT Bold"/>
                <a:cs typeface="Times New Roman MT Bold"/>
                <a:sym typeface="Times New Roman MT Bold"/>
              </a:rPr>
              <a:t>Problem</a:t>
            </a:r>
          </a:p>
        </p:txBody>
      </p:sp>
      <p:sp>
        <p:nvSpPr>
          <p:cNvPr id="7" name="TextBox 7"/>
          <p:cNvSpPr txBox="1"/>
          <p:nvPr/>
        </p:nvSpPr>
        <p:spPr>
          <a:xfrm>
            <a:off x="1207479" y="4151629"/>
            <a:ext cx="10528935" cy="3777023"/>
          </a:xfrm>
          <a:prstGeom prst="rect">
            <a:avLst/>
          </a:prstGeom>
        </p:spPr>
        <p:txBody>
          <a:bodyPr lIns="0" tIns="0" rIns="0" bIns="0" rtlCol="0" anchor="t">
            <a:spAutoFit/>
          </a:bodyPr>
          <a:lstStyle/>
          <a:p>
            <a:pPr algn="l">
              <a:lnSpc>
                <a:spcPts val="5985"/>
              </a:lnSpc>
              <a:spcBef>
                <a:spcPct val="0"/>
              </a:spcBef>
            </a:pPr>
            <a:r>
              <a:rPr lang="en-US" sz="4987">
                <a:solidFill>
                  <a:srgbClr val="000000"/>
                </a:solidFill>
                <a:latin typeface="KG Primary Penmanship"/>
                <a:ea typeface="KG Primary Penmanship"/>
                <a:cs typeface="KG Primary Penmanship"/>
                <a:sym typeface="KG Primary Penmanship"/>
              </a:rPr>
              <a:t>In many situations, communication is still done manually, which causes delays and inefficiency. Important messages like announcements or updates do not reach users on time, especially when dealing with multiple recipients.</a:t>
            </a:r>
          </a:p>
        </p:txBody>
      </p:sp>
      <p:sp>
        <p:nvSpPr>
          <p:cNvPr id="8" name="Freeform 8"/>
          <p:cNvSpPr/>
          <p:nvPr/>
        </p:nvSpPr>
        <p:spPr>
          <a:xfrm>
            <a:off x="9144000" y="8724603"/>
            <a:ext cx="3271774" cy="1903578"/>
          </a:xfrm>
          <a:custGeom>
            <a:avLst/>
            <a:gdLst/>
            <a:ahLst/>
            <a:cxnLst/>
            <a:rect l="l" t="t" r="r" b="b"/>
            <a:pathLst>
              <a:path w="3271774" h="1903578">
                <a:moveTo>
                  <a:pt x="0" y="0"/>
                </a:moveTo>
                <a:lnTo>
                  <a:pt x="3271774" y="0"/>
                </a:lnTo>
                <a:lnTo>
                  <a:pt x="3271774" y="1903578"/>
                </a:lnTo>
                <a:lnTo>
                  <a:pt x="0" y="190357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rot="9878027">
            <a:off x="13977269" y="-47659"/>
            <a:ext cx="3098556" cy="1802796"/>
          </a:xfrm>
          <a:custGeom>
            <a:avLst/>
            <a:gdLst/>
            <a:ahLst/>
            <a:cxnLst/>
            <a:rect l="l" t="t" r="r" b="b"/>
            <a:pathLst>
              <a:path w="3098556" h="1802796">
                <a:moveTo>
                  <a:pt x="0" y="0"/>
                </a:moveTo>
                <a:lnTo>
                  <a:pt x="3098556" y="0"/>
                </a:lnTo>
                <a:lnTo>
                  <a:pt x="3098556" y="1802796"/>
                </a:lnTo>
                <a:lnTo>
                  <a:pt x="0" y="180279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0" name="Freeform 10"/>
          <p:cNvSpPr/>
          <p:nvPr/>
        </p:nvSpPr>
        <p:spPr>
          <a:xfrm>
            <a:off x="0" y="31260"/>
            <a:ext cx="2296991" cy="997440"/>
          </a:xfrm>
          <a:custGeom>
            <a:avLst/>
            <a:gdLst/>
            <a:ahLst/>
            <a:cxnLst/>
            <a:rect l="l" t="t" r="r" b="b"/>
            <a:pathLst>
              <a:path w="2296991" h="997440">
                <a:moveTo>
                  <a:pt x="0" y="0"/>
                </a:moveTo>
                <a:lnTo>
                  <a:pt x="2296991" y="0"/>
                </a:lnTo>
                <a:lnTo>
                  <a:pt x="2296991" y="997440"/>
                </a:lnTo>
                <a:lnTo>
                  <a:pt x="0" y="997440"/>
                </a:lnTo>
                <a:lnTo>
                  <a:pt x="0" y="0"/>
                </a:lnTo>
                <a:close/>
              </a:path>
            </a:pathLst>
          </a:custGeom>
          <a:blipFill>
            <a:blip r:embed="rId5"/>
            <a:stretch>
              <a:fillRect t="-30201"/>
            </a:stretch>
          </a:blipFill>
        </p:spPr>
      </p:sp>
      <p:sp>
        <p:nvSpPr>
          <p:cNvPr id="11" name="Freeform 11"/>
          <p:cNvSpPr/>
          <p:nvPr/>
        </p:nvSpPr>
        <p:spPr>
          <a:xfrm>
            <a:off x="13220635" y="7978167"/>
            <a:ext cx="5660224" cy="5300028"/>
          </a:xfrm>
          <a:custGeom>
            <a:avLst/>
            <a:gdLst/>
            <a:ahLst/>
            <a:cxnLst/>
            <a:rect l="l" t="t" r="r" b="b"/>
            <a:pathLst>
              <a:path w="5660224" h="5300028">
                <a:moveTo>
                  <a:pt x="0" y="0"/>
                </a:moveTo>
                <a:lnTo>
                  <a:pt x="5660224" y="0"/>
                </a:lnTo>
                <a:lnTo>
                  <a:pt x="5660224" y="5300028"/>
                </a:lnTo>
                <a:lnTo>
                  <a:pt x="0" y="530002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2" name="Freeform 12"/>
          <p:cNvSpPr/>
          <p:nvPr/>
        </p:nvSpPr>
        <p:spPr>
          <a:xfrm>
            <a:off x="11934758" y="3013683"/>
            <a:ext cx="5324542" cy="4259633"/>
          </a:xfrm>
          <a:custGeom>
            <a:avLst/>
            <a:gdLst/>
            <a:ahLst/>
            <a:cxnLst/>
            <a:rect l="l" t="t" r="r" b="b"/>
            <a:pathLst>
              <a:path w="5324542" h="4259633">
                <a:moveTo>
                  <a:pt x="0" y="0"/>
                </a:moveTo>
                <a:lnTo>
                  <a:pt x="5324542" y="0"/>
                </a:lnTo>
                <a:lnTo>
                  <a:pt x="5324542" y="4259634"/>
                </a:lnTo>
                <a:lnTo>
                  <a:pt x="0" y="4259634"/>
                </a:lnTo>
                <a:lnTo>
                  <a:pt x="0" y="0"/>
                </a:lnTo>
                <a:close/>
              </a:path>
            </a:pathLst>
          </a:custGeom>
          <a:blipFill>
            <a:blip>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43000" y="0"/>
            <a:ext cx="20574000" cy="10287000"/>
            <a:chOff x="0" y="0"/>
            <a:chExt cx="27432000"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alphaModFix amt="61000"/>
              </a:blip>
              <a:stretch>
                <a:fillRect/>
              </a:stretch>
            </a:blipFill>
          </p:spPr>
        </p:sp>
        <p:sp>
          <p:nvSpPr>
            <p:cNvPr id="4" name="Freeform 4"/>
            <p:cNvSpPr/>
            <p:nvPr/>
          </p:nvSpPr>
          <p:spPr>
            <a:xfrm>
              <a:off x="137160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alphaModFix amt="61000"/>
              </a:blip>
              <a:stretch>
                <a:fillRect/>
              </a:stretch>
            </a:blipFill>
          </p:spPr>
        </p:sp>
      </p:grpSp>
      <p:sp>
        <p:nvSpPr>
          <p:cNvPr id="5" name="Freeform 5"/>
          <p:cNvSpPr/>
          <p:nvPr/>
        </p:nvSpPr>
        <p:spPr>
          <a:xfrm>
            <a:off x="11420312" y="8888661"/>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811876">
            <a:off x="15424771" y="4740764"/>
            <a:ext cx="3669058" cy="2930660"/>
          </a:xfrm>
          <a:custGeom>
            <a:avLst/>
            <a:gdLst/>
            <a:ahLst/>
            <a:cxnLst/>
            <a:rect l="l" t="t" r="r" b="b"/>
            <a:pathLst>
              <a:path w="3669058" h="2930660">
                <a:moveTo>
                  <a:pt x="0" y="0"/>
                </a:moveTo>
                <a:lnTo>
                  <a:pt x="3669058" y="0"/>
                </a:lnTo>
                <a:lnTo>
                  <a:pt x="3669058" y="2930660"/>
                </a:lnTo>
                <a:lnTo>
                  <a:pt x="0" y="293066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1570688" y="2578410"/>
            <a:ext cx="6199322" cy="4114800"/>
          </a:xfrm>
          <a:custGeom>
            <a:avLst/>
            <a:gdLst/>
            <a:ahLst/>
            <a:cxnLst/>
            <a:rect l="l" t="t" r="r" b="b"/>
            <a:pathLst>
              <a:path w="6199322" h="4114800">
                <a:moveTo>
                  <a:pt x="0" y="0"/>
                </a:moveTo>
                <a:lnTo>
                  <a:pt x="6199322" y="0"/>
                </a:lnTo>
                <a:lnTo>
                  <a:pt x="619932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2836859" y="-3472124"/>
            <a:ext cx="5434637" cy="5088796"/>
          </a:xfrm>
          <a:custGeom>
            <a:avLst/>
            <a:gdLst/>
            <a:ahLst/>
            <a:cxnLst/>
            <a:rect l="l" t="t" r="r" b="b"/>
            <a:pathLst>
              <a:path w="5434637" h="5088796">
                <a:moveTo>
                  <a:pt x="0" y="0"/>
                </a:moveTo>
                <a:lnTo>
                  <a:pt x="5434637" y="0"/>
                </a:lnTo>
                <a:lnTo>
                  <a:pt x="5434637" y="5088797"/>
                </a:lnTo>
                <a:lnTo>
                  <a:pt x="0" y="508879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5948445" y="1887469"/>
            <a:ext cx="7447291" cy="1627323"/>
          </a:xfrm>
          <a:prstGeom prst="rect">
            <a:avLst/>
          </a:prstGeom>
        </p:spPr>
        <p:txBody>
          <a:bodyPr lIns="0" tIns="0" rIns="0" bIns="0" rtlCol="0" anchor="t">
            <a:spAutoFit/>
          </a:bodyPr>
          <a:lstStyle/>
          <a:p>
            <a:pPr algn="ctr">
              <a:lnSpc>
                <a:spcPts val="11182"/>
              </a:lnSpc>
            </a:pPr>
            <a:r>
              <a:rPr lang="en-US" sz="9809" b="1">
                <a:solidFill>
                  <a:srgbClr val="000000"/>
                </a:solidFill>
                <a:latin typeface="Times New Roman MT Bold"/>
                <a:ea typeface="Times New Roman MT Bold"/>
                <a:cs typeface="Times New Roman MT Bold"/>
                <a:sym typeface="Times New Roman MT Bold"/>
              </a:rPr>
              <a:t>Solution</a:t>
            </a:r>
          </a:p>
        </p:txBody>
      </p:sp>
      <p:sp>
        <p:nvSpPr>
          <p:cNvPr id="10" name="TextBox 10"/>
          <p:cNvSpPr txBox="1"/>
          <p:nvPr/>
        </p:nvSpPr>
        <p:spPr>
          <a:xfrm>
            <a:off x="5275861" y="4322112"/>
            <a:ext cx="8792458" cy="2614879"/>
          </a:xfrm>
          <a:prstGeom prst="rect">
            <a:avLst/>
          </a:prstGeom>
        </p:spPr>
        <p:txBody>
          <a:bodyPr lIns="0" tIns="0" rIns="0" bIns="0" rtlCol="0" anchor="t">
            <a:spAutoFit/>
          </a:bodyPr>
          <a:lstStyle/>
          <a:p>
            <a:pPr algn="ctr">
              <a:lnSpc>
                <a:spcPts val="5127"/>
              </a:lnSpc>
              <a:spcBef>
                <a:spcPct val="0"/>
              </a:spcBef>
            </a:pPr>
            <a:r>
              <a:rPr lang="en-US" sz="4273">
                <a:solidFill>
                  <a:srgbClr val="000000"/>
                </a:solidFill>
                <a:latin typeface="KG Primary Penmanship"/>
                <a:ea typeface="KG Primary Penmanship"/>
                <a:cs typeface="KG Primary Penmanship"/>
                <a:sym typeface="KG Primary Penmanship"/>
              </a:rPr>
              <a:t>To solve this, we developed a smart notification system that automates message delivery. Users can enter details and send notifications instantly without any manual effort or delay.</a:t>
            </a:r>
          </a:p>
        </p:txBody>
      </p:sp>
      <p:sp>
        <p:nvSpPr>
          <p:cNvPr id="11" name="Freeform 11"/>
          <p:cNvSpPr/>
          <p:nvPr/>
        </p:nvSpPr>
        <p:spPr>
          <a:xfrm rot="-500504">
            <a:off x="1649748" y="8561295"/>
            <a:ext cx="3271774" cy="1903578"/>
          </a:xfrm>
          <a:custGeom>
            <a:avLst/>
            <a:gdLst/>
            <a:ahLst/>
            <a:cxnLst/>
            <a:rect l="l" t="t" r="r" b="b"/>
            <a:pathLst>
              <a:path w="3271774" h="1903578">
                <a:moveTo>
                  <a:pt x="0" y="0"/>
                </a:moveTo>
                <a:lnTo>
                  <a:pt x="3271775" y="0"/>
                </a:lnTo>
                <a:lnTo>
                  <a:pt x="3271775" y="1903578"/>
                </a:lnTo>
                <a:lnTo>
                  <a:pt x="0" y="1903578"/>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Freeform 12"/>
          <p:cNvSpPr/>
          <p:nvPr/>
        </p:nvSpPr>
        <p:spPr>
          <a:xfrm rot="9878027">
            <a:off x="13977269" y="127302"/>
            <a:ext cx="3098556" cy="1802796"/>
          </a:xfrm>
          <a:custGeom>
            <a:avLst/>
            <a:gdLst/>
            <a:ahLst/>
            <a:cxnLst/>
            <a:rect l="l" t="t" r="r" b="b"/>
            <a:pathLst>
              <a:path w="3098556" h="1802796">
                <a:moveTo>
                  <a:pt x="0" y="0"/>
                </a:moveTo>
                <a:lnTo>
                  <a:pt x="3098556" y="0"/>
                </a:lnTo>
                <a:lnTo>
                  <a:pt x="3098556" y="1802796"/>
                </a:lnTo>
                <a:lnTo>
                  <a:pt x="0" y="180279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3" name="Freeform 13"/>
          <p:cNvSpPr/>
          <p:nvPr/>
        </p:nvSpPr>
        <p:spPr>
          <a:xfrm>
            <a:off x="0" y="31260"/>
            <a:ext cx="2296991" cy="997440"/>
          </a:xfrm>
          <a:custGeom>
            <a:avLst/>
            <a:gdLst/>
            <a:ahLst/>
            <a:cxnLst/>
            <a:rect l="l" t="t" r="r" b="b"/>
            <a:pathLst>
              <a:path w="2296991" h="997440">
                <a:moveTo>
                  <a:pt x="0" y="0"/>
                </a:moveTo>
                <a:lnTo>
                  <a:pt x="2296991" y="0"/>
                </a:lnTo>
                <a:lnTo>
                  <a:pt x="2296991" y="997440"/>
                </a:lnTo>
                <a:lnTo>
                  <a:pt x="0" y="997440"/>
                </a:lnTo>
                <a:lnTo>
                  <a:pt x="0" y="0"/>
                </a:lnTo>
                <a:close/>
              </a:path>
            </a:pathLst>
          </a:custGeom>
          <a:blipFill>
            <a:blip r:embed="rId8"/>
            <a:stretch>
              <a:fillRect t="-30201"/>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sp>
          <p:nvSpPr>
            <p:cNvPr id="4" name="Freeform 4"/>
            <p:cNvSpPr/>
            <p:nvPr/>
          </p:nvSpPr>
          <p:spPr>
            <a:xfrm>
              <a:off x="1219200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grpSp>
      <p:sp>
        <p:nvSpPr>
          <p:cNvPr id="5" name="Freeform 5"/>
          <p:cNvSpPr/>
          <p:nvPr/>
        </p:nvSpPr>
        <p:spPr>
          <a:xfrm>
            <a:off x="1156597" y="3086100"/>
            <a:ext cx="5411943" cy="3971013"/>
          </a:xfrm>
          <a:custGeom>
            <a:avLst/>
            <a:gdLst/>
            <a:ahLst/>
            <a:cxnLst/>
            <a:rect l="l" t="t" r="r" b="b"/>
            <a:pathLst>
              <a:path w="5411943" h="3971013">
                <a:moveTo>
                  <a:pt x="0" y="0"/>
                </a:moveTo>
                <a:lnTo>
                  <a:pt x="5411943" y="0"/>
                </a:lnTo>
                <a:lnTo>
                  <a:pt x="5411943" y="3971013"/>
                </a:lnTo>
                <a:lnTo>
                  <a:pt x="0" y="397101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9448042" y="1937809"/>
            <a:ext cx="4403298" cy="1627323"/>
          </a:xfrm>
          <a:prstGeom prst="rect">
            <a:avLst/>
          </a:prstGeom>
        </p:spPr>
        <p:txBody>
          <a:bodyPr lIns="0" tIns="0" rIns="0" bIns="0" rtlCol="0" anchor="t">
            <a:spAutoFit/>
          </a:bodyPr>
          <a:lstStyle/>
          <a:p>
            <a:pPr algn="l">
              <a:lnSpc>
                <a:spcPts val="11182"/>
              </a:lnSpc>
            </a:pPr>
            <a:r>
              <a:rPr lang="en-US" sz="9809" b="1">
                <a:solidFill>
                  <a:srgbClr val="000000"/>
                </a:solidFill>
                <a:latin typeface="Times New Roman MT Bold"/>
                <a:ea typeface="Times New Roman MT Bold"/>
                <a:cs typeface="Times New Roman MT Bold"/>
                <a:sym typeface="Times New Roman MT Bold"/>
              </a:rPr>
              <a:t>Concept</a:t>
            </a:r>
          </a:p>
        </p:txBody>
      </p:sp>
      <p:sp>
        <p:nvSpPr>
          <p:cNvPr id="7" name="TextBox 7"/>
          <p:cNvSpPr txBox="1"/>
          <p:nvPr/>
        </p:nvSpPr>
        <p:spPr>
          <a:xfrm>
            <a:off x="9448042" y="3887345"/>
            <a:ext cx="7857607" cy="3971932"/>
          </a:xfrm>
          <a:prstGeom prst="rect">
            <a:avLst/>
          </a:prstGeom>
        </p:spPr>
        <p:txBody>
          <a:bodyPr lIns="0" tIns="0" rIns="0" bIns="0" rtlCol="0" anchor="t">
            <a:spAutoFit/>
          </a:bodyPr>
          <a:lstStyle/>
          <a:p>
            <a:pPr algn="l">
              <a:lnSpc>
                <a:spcPts val="5245"/>
              </a:lnSpc>
              <a:spcBef>
                <a:spcPct val="0"/>
              </a:spcBef>
            </a:pPr>
            <a:r>
              <a:rPr lang="en-US" sz="4371">
                <a:solidFill>
                  <a:srgbClr val="000000"/>
                </a:solidFill>
                <a:latin typeface="KG Primary Penmanship"/>
                <a:ea typeface="KG Primary Penmanship"/>
                <a:cs typeface="KG Primary Penmanship"/>
                <a:sym typeface="KG Primary Penmanship"/>
              </a:rPr>
              <a:t>This project is based on a serverless and event-driven approach. Whenever a user performs an action, it triggers a process in the backend that automatically sends the notification without needing a dedicated server.</a:t>
            </a:r>
          </a:p>
        </p:txBody>
      </p:sp>
      <p:sp>
        <p:nvSpPr>
          <p:cNvPr id="8" name="Freeform 8"/>
          <p:cNvSpPr/>
          <p:nvPr/>
        </p:nvSpPr>
        <p:spPr>
          <a:xfrm>
            <a:off x="2093321" y="-4607336"/>
            <a:ext cx="6576184" cy="6157700"/>
          </a:xfrm>
          <a:custGeom>
            <a:avLst/>
            <a:gdLst/>
            <a:ahLst/>
            <a:cxnLst/>
            <a:rect l="l" t="t" r="r" b="b"/>
            <a:pathLst>
              <a:path w="6576184" h="6157700">
                <a:moveTo>
                  <a:pt x="0" y="0"/>
                </a:moveTo>
                <a:lnTo>
                  <a:pt x="6576185" y="0"/>
                </a:lnTo>
                <a:lnTo>
                  <a:pt x="6576185" y="6157700"/>
                </a:lnTo>
                <a:lnTo>
                  <a:pt x="0" y="61577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1180795" y="8886657"/>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a:off x="-564753" y="8306511"/>
            <a:ext cx="3271774" cy="1903578"/>
          </a:xfrm>
          <a:custGeom>
            <a:avLst/>
            <a:gdLst/>
            <a:ahLst/>
            <a:cxnLst/>
            <a:rect l="l" t="t" r="r" b="b"/>
            <a:pathLst>
              <a:path w="3271774" h="1903578">
                <a:moveTo>
                  <a:pt x="0" y="0"/>
                </a:moveTo>
                <a:lnTo>
                  <a:pt x="3271774" y="0"/>
                </a:lnTo>
                <a:lnTo>
                  <a:pt x="3271774" y="1903578"/>
                </a:lnTo>
                <a:lnTo>
                  <a:pt x="0" y="190357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p:cNvSpPr/>
          <p:nvPr/>
        </p:nvSpPr>
        <p:spPr>
          <a:xfrm rot="9878027">
            <a:off x="7898764" y="-109953"/>
            <a:ext cx="3098556" cy="1802796"/>
          </a:xfrm>
          <a:custGeom>
            <a:avLst/>
            <a:gdLst/>
            <a:ahLst/>
            <a:cxnLst/>
            <a:rect l="l" t="t" r="r" b="b"/>
            <a:pathLst>
              <a:path w="3098556" h="1802796">
                <a:moveTo>
                  <a:pt x="0" y="0"/>
                </a:moveTo>
                <a:lnTo>
                  <a:pt x="3098555" y="0"/>
                </a:lnTo>
                <a:lnTo>
                  <a:pt x="3098555" y="1802796"/>
                </a:lnTo>
                <a:lnTo>
                  <a:pt x="0" y="180279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2" name="Freeform 12"/>
          <p:cNvSpPr/>
          <p:nvPr/>
        </p:nvSpPr>
        <p:spPr>
          <a:xfrm>
            <a:off x="8102" y="0"/>
            <a:ext cx="2296991" cy="997440"/>
          </a:xfrm>
          <a:custGeom>
            <a:avLst/>
            <a:gdLst/>
            <a:ahLst/>
            <a:cxnLst/>
            <a:rect l="l" t="t" r="r" b="b"/>
            <a:pathLst>
              <a:path w="2296991" h="997440">
                <a:moveTo>
                  <a:pt x="0" y="0"/>
                </a:moveTo>
                <a:lnTo>
                  <a:pt x="2296991" y="0"/>
                </a:lnTo>
                <a:lnTo>
                  <a:pt x="2296991" y="997440"/>
                </a:lnTo>
                <a:lnTo>
                  <a:pt x="0" y="997440"/>
                </a:lnTo>
                <a:lnTo>
                  <a:pt x="0" y="0"/>
                </a:lnTo>
                <a:close/>
              </a:path>
            </a:pathLst>
          </a:custGeom>
          <a:blipFill>
            <a:blip r:embed="rId7"/>
            <a:stretch>
              <a:fillRect t="-30201"/>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sp>
          <p:nvSpPr>
            <p:cNvPr id="4" name="Freeform 4"/>
            <p:cNvSpPr/>
            <p:nvPr/>
          </p:nvSpPr>
          <p:spPr>
            <a:xfrm>
              <a:off x="1219200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grpSp>
      <p:sp>
        <p:nvSpPr>
          <p:cNvPr id="5" name="Freeform 5"/>
          <p:cNvSpPr/>
          <p:nvPr/>
        </p:nvSpPr>
        <p:spPr>
          <a:xfrm>
            <a:off x="2296991" y="-4618600"/>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3574982" y="8206767"/>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9557830" y="8846584"/>
            <a:ext cx="3271774" cy="1903578"/>
          </a:xfrm>
          <a:custGeom>
            <a:avLst/>
            <a:gdLst/>
            <a:ahLst/>
            <a:cxnLst/>
            <a:rect l="l" t="t" r="r" b="b"/>
            <a:pathLst>
              <a:path w="3271774" h="1903578">
                <a:moveTo>
                  <a:pt x="0" y="0"/>
                </a:moveTo>
                <a:lnTo>
                  <a:pt x="3271774" y="0"/>
                </a:lnTo>
                <a:lnTo>
                  <a:pt x="3271774" y="1903577"/>
                </a:lnTo>
                <a:lnTo>
                  <a:pt x="0" y="190357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rot="9878027">
            <a:off x="13977269" y="127302"/>
            <a:ext cx="3098556" cy="1802796"/>
          </a:xfrm>
          <a:custGeom>
            <a:avLst/>
            <a:gdLst/>
            <a:ahLst/>
            <a:cxnLst/>
            <a:rect l="l" t="t" r="r" b="b"/>
            <a:pathLst>
              <a:path w="3098556" h="1802796">
                <a:moveTo>
                  <a:pt x="0" y="0"/>
                </a:moveTo>
                <a:lnTo>
                  <a:pt x="3098556" y="0"/>
                </a:lnTo>
                <a:lnTo>
                  <a:pt x="3098556" y="1802796"/>
                </a:lnTo>
                <a:lnTo>
                  <a:pt x="0" y="180279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11483169" y="3532596"/>
            <a:ext cx="5545910" cy="3632571"/>
          </a:xfrm>
          <a:custGeom>
            <a:avLst/>
            <a:gdLst/>
            <a:ahLst/>
            <a:cxnLst/>
            <a:rect l="l" t="t" r="r" b="b"/>
            <a:pathLst>
              <a:path w="5545910" h="3632571">
                <a:moveTo>
                  <a:pt x="0" y="0"/>
                </a:moveTo>
                <a:lnTo>
                  <a:pt x="5545910" y="0"/>
                </a:lnTo>
                <a:lnTo>
                  <a:pt x="5545910" y="3632571"/>
                </a:lnTo>
                <a:lnTo>
                  <a:pt x="0" y="363257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TextBox 10"/>
          <p:cNvSpPr txBox="1"/>
          <p:nvPr/>
        </p:nvSpPr>
        <p:spPr>
          <a:xfrm>
            <a:off x="1515247" y="2537589"/>
            <a:ext cx="9912947" cy="1414908"/>
          </a:xfrm>
          <a:prstGeom prst="rect">
            <a:avLst/>
          </a:prstGeom>
        </p:spPr>
        <p:txBody>
          <a:bodyPr lIns="0" tIns="0" rIns="0" bIns="0" rtlCol="0" anchor="t">
            <a:spAutoFit/>
          </a:bodyPr>
          <a:lstStyle/>
          <a:p>
            <a:pPr algn="l">
              <a:lnSpc>
                <a:spcPts val="9664"/>
              </a:lnSpc>
            </a:pPr>
            <a:r>
              <a:rPr lang="en-US" sz="8477" b="1">
                <a:solidFill>
                  <a:srgbClr val="000000"/>
                </a:solidFill>
                <a:latin typeface="Times New Roman MT Bold"/>
                <a:ea typeface="Times New Roman MT Bold"/>
                <a:cs typeface="Times New Roman MT Bold"/>
                <a:sym typeface="Times New Roman MT Bold"/>
              </a:rPr>
              <a:t>Technologies</a:t>
            </a:r>
          </a:p>
        </p:txBody>
      </p:sp>
      <p:sp>
        <p:nvSpPr>
          <p:cNvPr id="11" name="TextBox 11"/>
          <p:cNvSpPr txBox="1"/>
          <p:nvPr/>
        </p:nvSpPr>
        <p:spPr>
          <a:xfrm>
            <a:off x="1515247" y="4386892"/>
            <a:ext cx="8571831" cy="3198176"/>
          </a:xfrm>
          <a:prstGeom prst="rect">
            <a:avLst/>
          </a:prstGeom>
        </p:spPr>
        <p:txBody>
          <a:bodyPr lIns="0" tIns="0" rIns="0" bIns="0" rtlCol="0" anchor="t">
            <a:spAutoFit/>
          </a:bodyPr>
          <a:lstStyle/>
          <a:p>
            <a:pPr algn="l">
              <a:lnSpc>
                <a:spcPts val="5065"/>
              </a:lnSpc>
              <a:spcBef>
                <a:spcPct val="0"/>
              </a:spcBef>
            </a:pPr>
            <a:r>
              <a:rPr lang="en-US" sz="4221">
                <a:solidFill>
                  <a:srgbClr val="000000"/>
                </a:solidFill>
                <a:latin typeface="KG Primary Penmanship"/>
                <a:ea typeface="KG Primary Penmanship"/>
                <a:cs typeface="KG Primary Penmanship"/>
                <a:sym typeface="KG Primary Penmanship"/>
              </a:rPr>
              <a:t>The system uses AWS Lambda for backend processing, API Gateway to handle requests, and AWS SES for sending emails. The frontend is built using HTML, CSS, and JavaScript, and hosted on Amazon S3.</a:t>
            </a:r>
          </a:p>
        </p:txBody>
      </p:sp>
      <p:sp>
        <p:nvSpPr>
          <p:cNvPr id="12" name="Freeform 12"/>
          <p:cNvSpPr/>
          <p:nvPr/>
        </p:nvSpPr>
        <p:spPr>
          <a:xfrm>
            <a:off x="0" y="31260"/>
            <a:ext cx="2296991" cy="997440"/>
          </a:xfrm>
          <a:custGeom>
            <a:avLst/>
            <a:gdLst/>
            <a:ahLst/>
            <a:cxnLst/>
            <a:rect l="l" t="t" r="r" b="b"/>
            <a:pathLst>
              <a:path w="2296991" h="997440">
                <a:moveTo>
                  <a:pt x="0" y="0"/>
                </a:moveTo>
                <a:lnTo>
                  <a:pt x="2296991" y="0"/>
                </a:lnTo>
                <a:lnTo>
                  <a:pt x="2296991" y="997440"/>
                </a:lnTo>
                <a:lnTo>
                  <a:pt x="0" y="997440"/>
                </a:lnTo>
                <a:lnTo>
                  <a:pt x="0" y="0"/>
                </a:lnTo>
                <a:close/>
              </a:path>
            </a:pathLst>
          </a:custGeom>
          <a:blipFill>
            <a:blip r:embed="rId7"/>
            <a:stretch>
              <a:fillRect t="-30201"/>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sp>
          <p:nvSpPr>
            <p:cNvPr id="4" name="Freeform 4"/>
            <p:cNvSpPr/>
            <p:nvPr/>
          </p:nvSpPr>
          <p:spPr>
            <a:xfrm>
              <a:off x="1219200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grpSp>
      <p:sp>
        <p:nvSpPr>
          <p:cNvPr id="5" name="Freeform 5"/>
          <p:cNvSpPr/>
          <p:nvPr/>
        </p:nvSpPr>
        <p:spPr>
          <a:xfrm>
            <a:off x="11430361" y="9258300"/>
            <a:ext cx="6576184" cy="6157700"/>
          </a:xfrm>
          <a:custGeom>
            <a:avLst/>
            <a:gdLst/>
            <a:ahLst/>
            <a:cxnLst/>
            <a:rect l="l" t="t" r="r" b="b"/>
            <a:pathLst>
              <a:path w="6576184" h="6157700">
                <a:moveTo>
                  <a:pt x="0" y="0"/>
                </a:moveTo>
                <a:lnTo>
                  <a:pt x="6576185" y="0"/>
                </a:lnTo>
                <a:lnTo>
                  <a:pt x="6576185" y="6157700"/>
                </a:lnTo>
                <a:lnTo>
                  <a:pt x="0" y="61577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2567816" y="-4737128"/>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500504">
            <a:off x="1649748" y="8561295"/>
            <a:ext cx="3271774" cy="1903578"/>
          </a:xfrm>
          <a:custGeom>
            <a:avLst/>
            <a:gdLst/>
            <a:ahLst/>
            <a:cxnLst/>
            <a:rect l="l" t="t" r="r" b="b"/>
            <a:pathLst>
              <a:path w="3271774" h="1903578">
                <a:moveTo>
                  <a:pt x="0" y="0"/>
                </a:moveTo>
                <a:lnTo>
                  <a:pt x="3271775" y="0"/>
                </a:lnTo>
                <a:lnTo>
                  <a:pt x="3271775" y="1903578"/>
                </a:lnTo>
                <a:lnTo>
                  <a:pt x="0" y="190357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rot="9878027">
            <a:off x="13977269" y="127302"/>
            <a:ext cx="3098556" cy="1802796"/>
          </a:xfrm>
          <a:custGeom>
            <a:avLst/>
            <a:gdLst/>
            <a:ahLst/>
            <a:cxnLst/>
            <a:rect l="l" t="t" r="r" b="b"/>
            <a:pathLst>
              <a:path w="3098556" h="1802796">
                <a:moveTo>
                  <a:pt x="0" y="0"/>
                </a:moveTo>
                <a:lnTo>
                  <a:pt x="3098556" y="0"/>
                </a:lnTo>
                <a:lnTo>
                  <a:pt x="3098556" y="1802796"/>
                </a:lnTo>
                <a:lnTo>
                  <a:pt x="0" y="180279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rot="1111428">
            <a:off x="-357908" y="1717138"/>
            <a:ext cx="3773761" cy="4343898"/>
          </a:xfrm>
          <a:custGeom>
            <a:avLst/>
            <a:gdLst/>
            <a:ahLst/>
            <a:cxnLst/>
            <a:rect l="l" t="t" r="r" b="b"/>
            <a:pathLst>
              <a:path w="3773761" h="4343898">
                <a:moveTo>
                  <a:pt x="0" y="0"/>
                </a:moveTo>
                <a:lnTo>
                  <a:pt x="3773761" y="0"/>
                </a:lnTo>
                <a:lnTo>
                  <a:pt x="3773761" y="4343897"/>
                </a:lnTo>
                <a:lnTo>
                  <a:pt x="0" y="434389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Freeform 10"/>
          <p:cNvSpPr/>
          <p:nvPr/>
        </p:nvSpPr>
        <p:spPr>
          <a:xfrm rot="455256">
            <a:off x="13440549" y="6238842"/>
            <a:ext cx="5694010" cy="2911063"/>
          </a:xfrm>
          <a:custGeom>
            <a:avLst/>
            <a:gdLst/>
            <a:ahLst/>
            <a:cxnLst/>
            <a:rect l="l" t="t" r="r" b="b"/>
            <a:pathLst>
              <a:path w="5694010" h="2911063">
                <a:moveTo>
                  <a:pt x="0" y="0"/>
                </a:moveTo>
                <a:lnTo>
                  <a:pt x="5694010" y="0"/>
                </a:lnTo>
                <a:lnTo>
                  <a:pt x="5694010" y="2911063"/>
                </a:lnTo>
                <a:lnTo>
                  <a:pt x="0" y="291106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1" name="TextBox 11"/>
          <p:cNvSpPr txBox="1"/>
          <p:nvPr/>
        </p:nvSpPr>
        <p:spPr>
          <a:xfrm>
            <a:off x="4298437" y="1887297"/>
            <a:ext cx="9691125" cy="1422239"/>
          </a:xfrm>
          <a:prstGeom prst="rect">
            <a:avLst/>
          </a:prstGeom>
        </p:spPr>
        <p:txBody>
          <a:bodyPr lIns="0" tIns="0" rIns="0" bIns="0" rtlCol="0" anchor="t">
            <a:spAutoFit/>
          </a:bodyPr>
          <a:lstStyle/>
          <a:p>
            <a:pPr algn="ctr">
              <a:lnSpc>
                <a:spcPts val="9790"/>
              </a:lnSpc>
            </a:pPr>
            <a:r>
              <a:rPr lang="en-US" sz="8587" b="1">
                <a:solidFill>
                  <a:srgbClr val="000000"/>
                </a:solidFill>
                <a:latin typeface="Times New Roman MT Bold"/>
                <a:ea typeface="Times New Roman MT Bold"/>
                <a:cs typeface="Times New Roman MT Bold"/>
                <a:sym typeface="Times New Roman MT Bold"/>
              </a:rPr>
              <a:t>Working</a:t>
            </a:r>
          </a:p>
        </p:txBody>
      </p:sp>
      <p:sp>
        <p:nvSpPr>
          <p:cNvPr id="12" name="TextBox 12"/>
          <p:cNvSpPr txBox="1"/>
          <p:nvPr/>
        </p:nvSpPr>
        <p:spPr>
          <a:xfrm>
            <a:off x="5014714" y="3889086"/>
            <a:ext cx="8258572" cy="3350197"/>
          </a:xfrm>
          <a:prstGeom prst="rect">
            <a:avLst/>
          </a:prstGeom>
        </p:spPr>
        <p:txBody>
          <a:bodyPr lIns="0" tIns="0" rIns="0" bIns="0" rtlCol="0" anchor="t">
            <a:spAutoFit/>
          </a:bodyPr>
          <a:lstStyle/>
          <a:p>
            <a:pPr algn="ctr">
              <a:lnSpc>
                <a:spcPts val="5294"/>
              </a:lnSpc>
              <a:spcBef>
                <a:spcPct val="0"/>
              </a:spcBef>
            </a:pPr>
            <a:r>
              <a:rPr lang="en-US" sz="4411">
                <a:solidFill>
                  <a:srgbClr val="000000"/>
                </a:solidFill>
                <a:latin typeface="KG Primary Penmanship"/>
                <a:ea typeface="KG Primary Penmanship"/>
                <a:cs typeface="KG Primary Penmanship"/>
                <a:sym typeface="KG Primary Penmanship"/>
              </a:rPr>
              <a:t>When a user enters an email, subject, and message, the request is sent to an API. This API triggers a Lambda function, which then uses AWS SES to send the email. The entire process happens in seconds.</a:t>
            </a:r>
          </a:p>
        </p:txBody>
      </p:sp>
      <p:sp>
        <p:nvSpPr>
          <p:cNvPr id="13" name="Freeform 13"/>
          <p:cNvSpPr/>
          <p:nvPr/>
        </p:nvSpPr>
        <p:spPr>
          <a:xfrm>
            <a:off x="0" y="0"/>
            <a:ext cx="2296991" cy="997440"/>
          </a:xfrm>
          <a:custGeom>
            <a:avLst/>
            <a:gdLst/>
            <a:ahLst/>
            <a:cxnLst/>
            <a:rect l="l" t="t" r="r" b="b"/>
            <a:pathLst>
              <a:path w="2296991" h="997440">
                <a:moveTo>
                  <a:pt x="0" y="0"/>
                </a:moveTo>
                <a:lnTo>
                  <a:pt x="2296991" y="0"/>
                </a:lnTo>
                <a:lnTo>
                  <a:pt x="2296991" y="997440"/>
                </a:lnTo>
                <a:lnTo>
                  <a:pt x="0" y="997440"/>
                </a:lnTo>
                <a:lnTo>
                  <a:pt x="0" y="0"/>
                </a:lnTo>
                <a:close/>
              </a:path>
            </a:pathLst>
          </a:custGeom>
          <a:blipFill>
            <a:blip r:embed="rId8"/>
            <a:stretch>
              <a:fillRect t="-30201"/>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2400"/>
            <a:ext cx="18288000" cy="10287000"/>
            <a:chOff x="0" y="0"/>
            <a:chExt cx="24384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sp>
          <p:nvSpPr>
            <p:cNvPr id="4" name="Freeform 4"/>
            <p:cNvSpPr/>
            <p:nvPr/>
          </p:nvSpPr>
          <p:spPr>
            <a:xfrm>
              <a:off x="1219200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grpSp>
      <p:sp>
        <p:nvSpPr>
          <p:cNvPr id="5" name="Freeform 5"/>
          <p:cNvSpPr/>
          <p:nvPr/>
        </p:nvSpPr>
        <p:spPr>
          <a:xfrm>
            <a:off x="8892311" y="9258300"/>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500504">
            <a:off x="-261013" y="8975900"/>
            <a:ext cx="3271774" cy="1903578"/>
          </a:xfrm>
          <a:custGeom>
            <a:avLst/>
            <a:gdLst/>
            <a:ahLst/>
            <a:cxnLst/>
            <a:rect l="l" t="t" r="r" b="b"/>
            <a:pathLst>
              <a:path w="3271774" h="1903578">
                <a:moveTo>
                  <a:pt x="0" y="0"/>
                </a:moveTo>
                <a:lnTo>
                  <a:pt x="3271774" y="0"/>
                </a:lnTo>
                <a:lnTo>
                  <a:pt x="3271774" y="1903578"/>
                </a:lnTo>
                <a:lnTo>
                  <a:pt x="0" y="190357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9878027">
            <a:off x="14648650" y="36058"/>
            <a:ext cx="2607268" cy="1516956"/>
          </a:xfrm>
          <a:custGeom>
            <a:avLst/>
            <a:gdLst/>
            <a:ahLst/>
            <a:cxnLst/>
            <a:rect l="l" t="t" r="r" b="b"/>
            <a:pathLst>
              <a:path w="2607268" h="1516956">
                <a:moveTo>
                  <a:pt x="0" y="0"/>
                </a:moveTo>
                <a:lnTo>
                  <a:pt x="2607268" y="0"/>
                </a:lnTo>
                <a:lnTo>
                  <a:pt x="2607268" y="1516956"/>
                </a:lnTo>
                <a:lnTo>
                  <a:pt x="0" y="151695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1619841" y="-5160260"/>
            <a:ext cx="6576184" cy="6157700"/>
          </a:xfrm>
          <a:custGeom>
            <a:avLst/>
            <a:gdLst/>
            <a:ahLst/>
            <a:cxnLst/>
            <a:rect l="l" t="t" r="r" b="b"/>
            <a:pathLst>
              <a:path w="6576184" h="6157700">
                <a:moveTo>
                  <a:pt x="0" y="0"/>
                </a:moveTo>
                <a:lnTo>
                  <a:pt x="6576185" y="0"/>
                </a:lnTo>
                <a:lnTo>
                  <a:pt x="6576185" y="6157700"/>
                </a:lnTo>
                <a:lnTo>
                  <a:pt x="0" y="61577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0" y="0"/>
            <a:ext cx="2296991" cy="997440"/>
          </a:xfrm>
          <a:custGeom>
            <a:avLst/>
            <a:gdLst/>
            <a:ahLst/>
            <a:cxnLst/>
            <a:rect l="l" t="t" r="r" b="b"/>
            <a:pathLst>
              <a:path w="2296991" h="997440">
                <a:moveTo>
                  <a:pt x="0" y="0"/>
                </a:moveTo>
                <a:lnTo>
                  <a:pt x="2296991" y="0"/>
                </a:lnTo>
                <a:lnTo>
                  <a:pt x="2296991" y="997440"/>
                </a:lnTo>
                <a:lnTo>
                  <a:pt x="0" y="997440"/>
                </a:lnTo>
                <a:lnTo>
                  <a:pt x="0" y="0"/>
                </a:lnTo>
                <a:close/>
              </a:path>
            </a:pathLst>
          </a:custGeom>
          <a:blipFill>
            <a:blip r:embed="rId6"/>
            <a:stretch>
              <a:fillRect t="-30201"/>
            </a:stretch>
          </a:blipFill>
        </p:spPr>
      </p:sp>
      <p:sp>
        <p:nvSpPr>
          <p:cNvPr id="10" name="Freeform 10"/>
          <p:cNvSpPr/>
          <p:nvPr/>
        </p:nvSpPr>
        <p:spPr>
          <a:xfrm rot="736008">
            <a:off x="25977" y="1482725"/>
            <a:ext cx="2571750" cy="4114800"/>
          </a:xfrm>
          <a:custGeom>
            <a:avLst/>
            <a:gdLst/>
            <a:ahLst/>
            <a:cxnLst/>
            <a:rect l="l" t="t" r="r" b="b"/>
            <a:pathLst>
              <a:path w="2571750" h="4114800">
                <a:moveTo>
                  <a:pt x="0" y="0"/>
                </a:moveTo>
                <a:lnTo>
                  <a:pt x="2571750" y="0"/>
                </a:lnTo>
                <a:lnTo>
                  <a:pt x="257175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1" name="Freeform 11"/>
          <p:cNvSpPr/>
          <p:nvPr/>
        </p:nvSpPr>
        <p:spPr>
          <a:xfrm>
            <a:off x="3726561" y="2502994"/>
            <a:ext cx="10834877" cy="5585812"/>
          </a:xfrm>
          <a:custGeom>
            <a:avLst/>
            <a:gdLst/>
            <a:ahLst/>
            <a:cxnLst/>
            <a:rect l="l" t="t" r="r" b="b"/>
            <a:pathLst>
              <a:path w="10834877" h="5585812">
                <a:moveTo>
                  <a:pt x="0" y="0"/>
                </a:moveTo>
                <a:lnTo>
                  <a:pt x="10834878" y="0"/>
                </a:lnTo>
                <a:lnTo>
                  <a:pt x="10834878" y="5585812"/>
                </a:lnTo>
                <a:lnTo>
                  <a:pt x="0" y="5585812"/>
                </a:lnTo>
                <a:lnTo>
                  <a:pt x="0" y="0"/>
                </a:lnTo>
                <a:close/>
              </a:path>
            </a:pathLst>
          </a:custGeom>
          <a:blipFill>
            <a:blip r:embed="rId8"/>
            <a:stretch>
              <a:fillRect l="-8796" t="-3597" r="-8718" b="-1541"/>
            </a:stretch>
          </a:blipFill>
        </p:spPr>
      </p:sp>
      <p:sp>
        <p:nvSpPr>
          <p:cNvPr id="12" name="Freeform 12"/>
          <p:cNvSpPr/>
          <p:nvPr/>
        </p:nvSpPr>
        <p:spPr>
          <a:xfrm rot="-691544">
            <a:off x="15807310" y="6716349"/>
            <a:ext cx="5224226" cy="3500231"/>
          </a:xfrm>
          <a:custGeom>
            <a:avLst/>
            <a:gdLst/>
            <a:ahLst/>
            <a:cxnLst/>
            <a:rect l="l" t="t" r="r" b="b"/>
            <a:pathLst>
              <a:path w="5224226" h="3500231">
                <a:moveTo>
                  <a:pt x="0" y="0"/>
                </a:moveTo>
                <a:lnTo>
                  <a:pt x="5224226" y="0"/>
                </a:lnTo>
                <a:lnTo>
                  <a:pt x="5224226" y="3500231"/>
                </a:lnTo>
                <a:lnTo>
                  <a:pt x="0" y="3500231"/>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3" name="TextBox 13"/>
          <p:cNvSpPr txBox="1"/>
          <p:nvPr/>
        </p:nvSpPr>
        <p:spPr>
          <a:xfrm>
            <a:off x="6383816" y="393945"/>
            <a:ext cx="6764400" cy="1220188"/>
          </a:xfrm>
          <a:prstGeom prst="rect">
            <a:avLst/>
          </a:prstGeom>
        </p:spPr>
        <p:txBody>
          <a:bodyPr lIns="0" tIns="0" rIns="0" bIns="0" rtlCol="0" anchor="t">
            <a:spAutoFit/>
          </a:bodyPr>
          <a:lstStyle/>
          <a:p>
            <a:pPr algn="ctr">
              <a:lnSpc>
                <a:spcPts val="8349"/>
              </a:lnSpc>
            </a:pPr>
            <a:r>
              <a:rPr lang="en-US" sz="7323" b="1">
                <a:solidFill>
                  <a:srgbClr val="000000"/>
                </a:solidFill>
                <a:latin typeface="Times New Roman MT Bold"/>
                <a:ea typeface="Times New Roman MT Bold"/>
                <a:cs typeface="Times New Roman MT Bold"/>
                <a:sym typeface="Times New Roman MT Bold"/>
              </a:rPr>
              <a:t>Sample Interface</a:t>
            </a:r>
          </a:p>
        </p:txBody>
      </p:sp>
      <p:sp>
        <p:nvSpPr>
          <p:cNvPr id="14" name="TextBox 14"/>
          <p:cNvSpPr txBox="1"/>
          <p:nvPr/>
        </p:nvSpPr>
        <p:spPr>
          <a:xfrm>
            <a:off x="4371193" y="8495040"/>
            <a:ext cx="2012623" cy="903913"/>
          </a:xfrm>
          <a:prstGeom prst="rect">
            <a:avLst/>
          </a:prstGeom>
        </p:spPr>
        <p:txBody>
          <a:bodyPr lIns="0" tIns="0" rIns="0" bIns="0" rtlCol="0" anchor="t">
            <a:spAutoFit/>
          </a:bodyPr>
          <a:lstStyle/>
          <a:p>
            <a:pPr algn="ctr">
              <a:lnSpc>
                <a:spcPts val="6981"/>
              </a:lnSpc>
            </a:pPr>
            <a:r>
              <a:rPr lang="en-US" sz="6123" u="sng">
                <a:solidFill>
                  <a:srgbClr val="000000"/>
                </a:solidFill>
                <a:latin typeface="Alice"/>
                <a:ea typeface="Alice"/>
                <a:cs typeface="Alice"/>
                <a:sym typeface="Alice"/>
                <a:hlinkClick r:id="rId10" tooltip="http://serverless-notification-krishna.s3-website-us-east-1.amazonaws.com"/>
              </a:rPr>
              <a:t>Link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49" r="-6250"/>
              </a:stretch>
            </a:blipFill>
          </p:spPr>
        </p:sp>
        <p:sp>
          <p:nvSpPr>
            <p:cNvPr id="4" name="Freeform 4"/>
            <p:cNvSpPr/>
            <p:nvPr/>
          </p:nvSpPr>
          <p:spPr>
            <a:xfrm>
              <a:off x="1219200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49" r="-6249"/>
              </a:stretch>
            </a:blipFill>
          </p:spPr>
        </p:sp>
      </p:grpSp>
      <p:sp>
        <p:nvSpPr>
          <p:cNvPr id="5" name="Freeform 5"/>
          <p:cNvSpPr/>
          <p:nvPr/>
        </p:nvSpPr>
        <p:spPr>
          <a:xfrm>
            <a:off x="1727646" y="-5175202"/>
            <a:ext cx="6576184" cy="6157700"/>
          </a:xfrm>
          <a:custGeom>
            <a:avLst/>
            <a:gdLst/>
            <a:ahLst/>
            <a:cxnLst/>
            <a:rect l="l" t="t" r="r" b="b"/>
            <a:pathLst>
              <a:path w="6576184" h="6157700">
                <a:moveTo>
                  <a:pt x="0" y="0"/>
                </a:moveTo>
                <a:lnTo>
                  <a:pt x="6576185" y="0"/>
                </a:lnTo>
                <a:lnTo>
                  <a:pt x="6576185" y="6157700"/>
                </a:lnTo>
                <a:lnTo>
                  <a:pt x="0" y="61577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2092906" y="9258300"/>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64753" y="8306511"/>
            <a:ext cx="3271774" cy="1903578"/>
          </a:xfrm>
          <a:custGeom>
            <a:avLst/>
            <a:gdLst/>
            <a:ahLst/>
            <a:cxnLst/>
            <a:rect l="l" t="t" r="r" b="b"/>
            <a:pathLst>
              <a:path w="3271774" h="1903578">
                <a:moveTo>
                  <a:pt x="0" y="0"/>
                </a:moveTo>
                <a:lnTo>
                  <a:pt x="3271774" y="0"/>
                </a:lnTo>
                <a:lnTo>
                  <a:pt x="3271774" y="1903578"/>
                </a:lnTo>
                <a:lnTo>
                  <a:pt x="0" y="190357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rot="9878027">
            <a:off x="7782928" y="-276538"/>
            <a:ext cx="3098556" cy="1802796"/>
          </a:xfrm>
          <a:custGeom>
            <a:avLst/>
            <a:gdLst/>
            <a:ahLst/>
            <a:cxnLst/>
            <a:rect l="l" t="t" r="r" b="b"/>
            <a:pathLst>
              <a:path w="3098556" h="1802796">
                <a:moveTo>
                  <a:pt x="0" y="0"/>
                </a:moveTo>
                <a:lnTo>
                  <a:pt x="3098556" y="0"/>
                </a:lnTo>
                <a:lnTo>
                  <a:pt x="3098556" y="1802796"/>
                </a:lnTo>
                <a:lnTo>
                  <a:pt x="0" y="180279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1028700" y="2504649"/>
            <a:ext cx="7974077" cy="5601352"/>
          </a:xfrm>
          <a:custGeom>
            <a:avLst/>
            <a:gdLst/>
            <a:ahLst/>
            <a:cxnLst/>
            <a:rect l="l" t="t" r="r" b="b"/>
            <a:pathLst>
              <a:path w="7974077" h="5601352">
                <a:moveTo>
                  <a:pt x="0" y="0"/>
                </a:moveTo>
                <a:lnTo>
                  <a:pt x="7974077" y="0"/>
                </a:lnTo>
                <a:lnTo>
                  <a:pt x="7974077" y="5601352"/>
                </a:lnTo>
                <a:lnTo>
                  <a:pt x="0" y="5601352"/>
                </a:lnTo>
                <a:lnTo>
                  <a:pt x="0" y="0"/>
                </a:lnTo>
                <a:close/>
              </a:path>
            </a:pathLst>
          </a:custGeom>
          <a:blipFill>
            <a:blip r:embed="rId6"/>
            <a:stretch>
              <a:fillRect l="-2155" t="-9" r="-3286"/>
            </a:stretch>
          </a:blipFill>
        </p:spPr>
      </p:sp>
      <p:sp>
        <p:nvSpPr>
          <p:cNvPr id="10" name="TextBox 10"/>
          <p:cNvSpPr txBox="1"/>
          <p:nvPr/>
        </p:nvSpPr>
        <p:spPr>
          <a:xfrm>
            <a:off x="10549346" y="2120271"/>
            <a:ext cx="5447528" cy="1335570"/>
          </a:xfrm>
          <a:prstGeom prst="rect">
            <a:avLst/>
          </a:prstGeom>
        </p:spPr>
        <p:txBody>
          <a:bodyPr lIns="0" tIns="0" rIns="0" bIns="0" rtlCol="0" anchor="t">
            <a:spAutoFit/>
          </a:bodyPr>
          <a:lstStyle/>
          <a:p>
            <a:pPr algn="l">
              <a:lnSpc>
                <a:spcPts val="9141"/>
              </a:lnSpc>
            </a:pPr>
            <a:r>
              <a:rPr lang="en-US" sz="8018" b="1">
                <a:solidFill>
                  <a:srgbClr val="000000"/>
                </a:solidFill>
                <a:latin typeface="Times New Roman MT Bold"/>
                <a:ea typeface="Times New Roman MT Bold"/>
                <a:cs typeface="Times New Roman MT Bold"/>
                <a:sym typeface="Times New Roman MT Bold"/>
              </a:rPr>
              <a:t>Architecture</a:t>
            </a:r>
          </a:p>
        </p:txBody>
      </p:sp>
      <p:sp>
        <p:nvSpPr>
          <p:cNvPr id="11" name="TextBox 11"/>
          <p:cNvSpPr txBox="1"/>
          <p:nvPr/>
        </p:nvSpPr>
        <p:spPr>
          <a:xfrm>
            <a:off x="9787346" y="4394850"/>
            <a:ext cx="8151007" cy="3657579"/>
          </a:xfrm>
          <a:prstGeom prst="rect">
            <a:avLst/>
          </a:prstGeom>
        </p:spPr>
        <p:txBody>
          <a:bodyPr lIns="0" tIns="0" rIns="0" bIns="0" rtlCol="0" anchor="t">
            <a:spAutoFit/>
          </a:bodyPr>
          <a:lstStyle/>
          <a:p>
            <a:pPr algn="l">
              <a:lnSpc>
                <a:spcPts val="4816"/>
              </a:lnSpc>
              <a:spcBef>
                <a:spcPct val="0"/>
              </a:spcBef>
            </a:pPr>
            <a:r>
              <a:rPr lang="en-US" sz="4013">
                <a:solidFill>
                  <a:srgbClr val="000000"/>
                </a:solidFill>
                <a:latin typeface="KG Primary Penmanship"/>
                <a:ea typeface="KG Primary Penmanship"/>
                <a:cs typeface="KG Primary Penmanship"/>
                <a:sym typeface="KG Primary Penmanship"/>
              </a:rPr>
              <a:t>The system consists of a frontend interface connected to an API Gateway. The API triggers a Lambda function, which communicates with AWS SES to send the email. This setup removes the need for managing servers.</a:t>
            </a:r>
          </a:p>
          <a:p>
            <a:pPr algn="l">
              <a:lnSpc>
                <a:spcPts val="4816"/>
              </a:lnSpc>
              <a:spcBef>
                <a:spcPct val="0"/>
              </a:spcBef>
            </a:pPr>
            <a:endParaRPr lang="en-US" sz="4013">
              <a:solidFill>
                <a:srgbClr val="000000"/>
              </a:solidFill>
              <a:latin typeface="KG Primary Penmanship"/>
              <a:ea typeface="KG Primary Penmanship"/>
              <a:cs typeface="KG Primary Penmanship"/>
              <a:sym typeface="KG Primary Penmanship"/>
            </a:endParaRPr>
          </a:p>
        </p:txBody>
      </p:sp>
      <p:sp>
        <p:nvSpPr>
          <p:cNvPr id="12" name="Freeform 12"/>
          <p:cNvSpPr/>
          <p:nvPr/>
        </p:nvSpPr>
        <p:spPr>
          <a:xfrm>
            <a:off x="8102" y="-14942"/>
            <a:ext cx="2296991" cy="997440"/>
          </a:xfrm>
          <a:custGeom>
            <a:avLst/>
            <a:gdLst/>
            <a:ahLst/>
            <a:cxnLst/>
            <a:rect l="l" t="t" r="r" b="b"/>
            <a:pathLst>
              <a:path w="2296991" h="997440">
                <a:moveTo>
                  <a:pt x="0" y="0"/>
                </a:moveTo>
                <a:lnTo>
                  <a:pt x="2296991" y="0"/>
                </a:lnTo>
                <a:lnTo>
                  <a:pt x="2296991" y="997440"/>
                </a:lnTo>
                <a:lnTo>
                  <a:pt x="0" y="997440"/>
                </a:lnTo>
                <a:lnTo>
                  <a:pt x="0" y="0"/>
                </a:lnTo>
                <a:close/>
              </a:path>
            </a:pathLst>
          </a:custGeom>
          <a:blipFill>
            <a:blip r:embed="rId7"/>
            <a:stretch>
              <a:fillRect t="-30201"/>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sp>
          <p:nvSpPr>
            <p:cNvPr id="4" name="Freeform 4"/>
            <p:cNvSpPr/>
            <p:nvPr/>
          </p:nvSpPr>
          <p:spPr>
            <a:xfrm>
              <a:off x="1219200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grpSp>
      <p:sp>
        <p:nvSpPr>
          <p:cNvPr id="5" name="Freeform 5"/>
          <p:cNvSpPr/>
          <p:nvPr/>
        </p:nvSpPr>
        <p:spPr>
          <a:xfrm>
            <a:off x="2296991" y="-5129000"/>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3224718" y="8779925"/>
            <a:ext cx="6576184" cy="6157700"/>
          </a:xfrm>
          <a:custGeom>
            <a:avLst/>
            <a:gdLst/>
            <a:ahLst/>
            <a:cxnLst/>
            <a:rect l="l" t="t" r="r" b="b"/>
            <a:pathLst>
              <a:path w="6576184" h="6157700">
                <a:moveTo>
                  <a:pt x="0" y="0"/>
                </a:moveTo>
                <a:lnTo>
                  <a:pt x="6576185" y="0"/>
                </a:lnTo>
                <a:lnTo>
                  <a:pt x="6576185" y="6157700"/>
                </a:lnTo>
                <a:lnTo>
                  <a:pt x="0" y="61577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667723" y="2175064"/>
            <a:ext cx="8566771" cy="1627323"/>
          </a:xfrm>
          <a:prstGeom prst="rect">
            <a:avLst/>
          </a:prstGeom>
        </p:spPr>
        <p:txBody>
          <a:bodyPr lIns="0" tIns="0" rIns="0" bIns="0" rtlCol="0" anchor="t">
            <a:spAutoFit/>
          </a:bodyPr>
          <a:lstStyle/>
          <a:p>
            <a:pPr algn="l">
              <a:lnSpc>
                <a:spcPts val="11182"/>
              </a:lnSpc>
            </a:pPr>
            <a:r>
              <a:rPr lang="en-US" sz="9809" b="1">
                <a:solidFill>
                  <a:srgbClr val="000000"/>
                </a:solidFill>
                <a:latin typeface="Times New Roman MT Bold"/>
                <a:ea typeface="Times New Roman MT Bold"/>
                <a:cs typeface="Times New Roman MT Bold"/>
                <a:sym typeface="Times New Roman MT Bold"/>
              </a:rPr>
              <a:t>Features</a:t>
            </a:r>
          </a:p>
        </p:txBody>
      </p:sp>
      <p:sp>
        <p:nvSpPr>
          <p:cNvPr id="8" name="TextBox 8"/>
          <p:cNvSpPr txBox="1"/>
          <p:nvPr/>
        </p:nvSpPr>
        <p:spPr>
          <a:xfrm>
            <a:off x="1552623" y="4374958"/>
            <a:ext cx="9048640" cy="2702341"/>
          </a:xfrm>
          <a:prstGeom prst="rect">
            <a:avLst/>
          </a:prstGeom>
        </p:spPr>
        <p:txBody>
          <a:bodyPr lIns="0" tIns="0" rIns="0" bIns="0" rtlCol="0" anchor="t">
            <a:spAutoFit/>
          </a:bodyPr>
          <a:lstStyle/>
          <a:p>
            <a:pPr algn="l">
              <a:lnSpc>
                <a:spcPts val="5347"/>
              </a:lnSpc>
              <a:spcBef>
                <a:spcPct val="0"/>
              </a:spcBef>
            </a:pPr>
            <a:r>
              <a:rPr lang="en-US" sz="4456">
                <a:solidFill>
                  <a:srgbClr val="000000"/>
                </a:solidFill>
                <a:latin typeface="KG Primary Penmanship"/>
                <a:ea typeface="KG Primary Penmanship"/>
                <a:cs typeface="KG Primary Penmanship"/>
                <a:sym typeface="KG Primary Penmanship"/>
              </a:rPr>
              <a:t>The system allows real-time email notifications with a simple interface. It is scalable, easy to use, and fully cloud-based, making it efficient for both small and large use cases.</a:t>
            </a:r>
          </a:p>
        </p:txBody>
      </p:sp>
      <p:sp>
        <p:nvSpPr>
          <p:cNvPr id="9" name="Freeform 9"/>
          <p:cNvSpPr/>
          <p:nvPr/>
        </p:nvSpPr>
        <p:spPr>
          <a:xfrm>
            <a:off x="9703631" y="8554982"/>
            <a:ext cx="3271774" cy="1903578"/>
          </a:xfrm>
          <a:custGeom>
            <a:avLst/>
            <a:gdLst/>
            <a:ahLst/>
            <a:cxnLst/>
            <a:rect l="l" t="t" r="r" b="b"/>
            <a:pathLst>
              <a:path w="3271774" h="1903578">
                <a:moveTo>
                  <a:pt x="0" y="0"/>
                </a:moveTo>
                <a:lnTo>
                  <a:pt x="3271774" y="0"/>
                </a:lnTo>
                <a:lnTo>
                  <a:pt x="3271774" y="1903577"/>
                </a:lnTo>
                <a:lnTo>
                  <a:pt x="0" y="190357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rot="9878027">
            <a:off x="13977269" y="127302"/>
            <a:ext cx="3098556" cy="1802796"/>
          </a:xfrm>
          <a:custGeom>
            <a:avLst/>
            <a:gdLst/>
            <a:ahLst/>
            <a:cxnLst/>
            <a:rect l="l" t="t" r="r" b="b"/>
            <a:pathLst>
              <a:path w="3098556" h="1802796">
                <a:moveTo>
                  <a:pt x="0" y="0"/>
                </a:moveTo>
                <a:lnTo>
                  <a:pt x="3098556" y="0"/>
                </a:lnTo>
                <a:lnTo>
                  <a:pt x="3098556" y="1802796"/>
                </a:lnTo>
                <a:lnTo>
                  <a:pt x="0" y="180279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1" name="Freeform 11"/>
          <p:cNvSpPr/>
          <p:nvPr/>
        </p:nvSpPr>
        <p:spPr>
          <a:xfrm>
            <a:off x="11584027" y="2987412"/>
            <a:ext cx="4518669" cy="4439592"/>
          </a:xfrm>
          <a:custGeom>
            <a:avLst/>
            <a:gdLst/>
            <a:ahLst/>
            <a:cxnLst/>
            <a:rect l="l" t="t" r="r" b="b"/>
            <a:pathLst>
              <a:path w="4518669" h="4439592">
                <a:moveTo>
                  <a:pt x="0" y="0"/>
                </a:moveTo>
                <a:lnTo>
                  <a:pt x="4518669" y="0"/>
                </a:lnTo>
                <a:lnTo>
                  <a:pt x="4518669" y="4439592"/>
                </a:lnTo>
                <a:lnTo>
                  <a:pt x="0" y="44395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2" name="Freeform 12"/>
          <p:cNvSpPr/>
          <p:nvPr/>
        </p:nvSpPr>
        <p:spPr>
          <a:xfrm>
            <a:off x="0" y="31260"/>
            <a:ext cx="2296991" cy="997440"/>
          </a:xfrm>
          <a:custGeom>
            <a:avLst/>
            <a:gdLst/>
            <a:ahLst/>
            <a:cxnLst/>
            <a:rect l="l" t="t" r="r" b="b"/>
            <a:pathLst>
              <a:path w="2296991" h="997440">
                <a:moveTo>
                  <a:pt x="0" y="0"/>
                </a:moveTo>
                <a:lnTo>
                  <a:pt x="2296991" y="0"/>
                </a:lnTo>
                <a:lnTo>
                  <a:pt x="2296991" y="997440"/>
                </a:lnTo>
                <a:lnTo>
                  <a:pt x="0" y="997440"/>
                </a:lnTo>
                <a:lnTo>
                  <a:pt x="0" y="0"/>
                </a:lnTo>
                <a:close/>
              </a:path>
            </a:pathLst>
          </a:custGeom>
          <a:blipFill>
            <a:blip r:embed="rId7"/>
            <a:stretch>
              <a:fillRect t="-30201"/>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sp>
          <p:nvSpPr>
            <p:cNvPr id="4" name="Freeform 4"/>
            <p:cNvSpPr/>
            <p:nvPr/>
          </p:nvSpPr>
          <p:spPr>
            <a:xfrm>
              <a:off x="1219200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grpSp>
      <p:sp>
        <p:nvSpPr>
          <p:cNvPr id="5" name="Freeform 5"/>
          <p:cNvSpPr/>
          <p:nvPr/>
        </p:nvSpPr>
        <p:spPr>
          <a:xfrm>
            <a:off x="7851579" y="8660866"/>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2567816" y="-4730393"/>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4038509" y="2084532"/>
            <a:ext cx="10210983" cy="1220188"/>
          </a:xfrm>
          <a:prstGeom prst="rect">
            <a:avLst/>
          </a:prstGeom>
        </p:spPr>
        <p:txBody>
          <a:bodyPr lIns="0" tIns="0" rIns="0" bIns="0" rtlCol="0" anchor="t">
            <a:spAutoFit/>
          </a:bodyPr>
          <a:lstStyle/>
          <a:p>
            <a:pPr algn="ctr">
              <a:lnSpc>
                <a:spcPts val="8349"/>
              </a:lnSpc>
            </a:pPr>
            <a:r>
              <a:rPr lang="en-US" sz="7323" b="1">
                <a:solidFill>
                  <a:srgbClr val="000000"/>
                </a:solidFill>
                <a:latin typeface="Times New Roman MT Bold"/>
                <a:ea typeface="Times New Roman MT Bold"/>
                <a:cs typeface="Times New Roman MT Bold"/>
                <a:sym typeface="Times New Roman MT Bold"/>
              </a:rPr>
              <a:t>Challenges</a:t>
            </a:r>
          </a:p>
        </p:txBody>
      </p:sp>
      <p:sp>
        <p:nvSpPr>
          <p:cNvPr id="8" name="Freeform 8"/>
          <p:cNvSpPr/>
          <p:nvPr/>
        </p:nvSpPr>
        <p:spPr>
          <a:xfrm rot="-500504">
            <a:off x="1649748" y="8561295"/>
            <a:ext cx="3271774" cy="1903578"/>
          </a:xfrm>
          <a:custGeom>
            <a:avLst/>
            <a:gdLst/>
            <a:ahLst/>
            <a:cxnLst/>
            <a:rect l="l" t="t" r="r" b="b"/>
            <a:pathLst>
              <a:path w="3271774" h="1903578">
                <a:moveTo>
                  <a:pt x="0" y="0"/>
                </a:moveTo>
                <a:lnTo>
                  <a:pt x="3271775" y="0"/>
                </a:lnTo>
                <a:lnTo>
                  <a:pt x="3271775" y="1903578"/>
                </a:lnTo>
                <a:lnTo>
                  <a:pt x="0" y="190357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rot="9878027">
            <a:off x="13977269" y="127302"/>
            <a:ext cx="3098556" cy="1802796"/>
          </a:xfrm>
          <a:custGeom>
            <a:avLst/>
            <a:gdLst/>
            <a:ahLst/>
            <a:cxnLst/>
            <a:rect l="l" t="t" r="r" b="b"/>
            <a:pathLst>
              <a:path w="3098556" h="1802796">
                <a:moveTo>
                  <a:pt x="0" y="0"/>
                </a:moveTo>
                <a:lnTo>
                  <a:pt x="3098556" y="0"/>
                </a:lnTo>
                <a:lnTo>
                  <a:pt x="3098556" y="1802796"/>
                </a:lnTo>
                <a:lnTo>
                  <a:pt x="0" y="180279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rot="-691544">
            <a:off x="14062676" y="6157083"/>
            <a:ext cx="4729408" cy="3168703"/>
          </a:xfrm>
          <a:custGeom>
            <a:avLst/>
            <a:gdLst/>
            <a:ahLst/>
            <a:cxnLst/>
            <a:rect l="l" t="t" r="r" b="b"/>
            <a:pathLst>
              <a:path w="4729408" h="3168703">
                <a:moveTo>
                  <a:pt x="0" y="0"/>
                </a:moveTo>
                <a:lnTo>
                  <a:pt x="4729407" y="0"/>
                </a:lnTo>
                <a:lnTo>
                  <a:pt x="4729407" y="3168703"/>
                </a:lnTo>
                <a:lnTo>
                  <a:pt x="0" y="316870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p:cNvSpPr/>
          <p:nvPr/>
        </p:nvSpPr>
        <p:spPr>
          <a:xfrm rot="736008">
            <a:off x="-257175" y="1653537"/>
            <a:ext cx="2571750" cy="4114800"/>
          </a:xfrm>
          <a:custGeom>
            <a:avLst/>
            <a:gdLst/>
            <a:ahLst/>
            <a:cxnLst/>
            <a:rect l="l" t="t" r="r" b="b"/>
            <a:pathLst>
              <a:path w="2571750" h="4114800">
                <a:moveTo>
                  <a:pt x="0" y="0"/>
                </a:moveTo>
                <a:lnTo>
                  <a:pt x="2571750" y="0"/>
                </a:lnTo>
                <a:lnTo>
                  <a:pt x="257175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TextBox 12"/>
          <p:cNvSpPr txBox="1"/>
          <p:nvPr/>
        </p:nvSpPr>
        <p:spPr>
          <a:xfrm>
            <a:off x="4285331" y="3931045"/>
            <a:ext cx="9508463" cy="3551949"/>
          </a:xfrm>
          <a:prstGeom prst="rect">
            <a:avLst/>
          </a:prstGeom>
        </p:spPr>
        <p:txBody>
          <a:bodyPr lIns="0" tIns="0" rIns="0" bIns="0" rtlCol="0" anchor="t">
            <a:spAutoFit/>
          </a:bodyPr>
          <a:lstStyle/>
          <a:p>
            <a:pPr algn="ctr">
              <a:lnSpc>
                <a:spcPts val="5583"/>
              </a:lnSpc>
              <a:spcBef>
                <a:spcPct val="0"/>
              </a:spcBef>
            </a:pPr>
            <a:r>
              <a:rPr lang="en-US" sz="4652">
                <a:solidFill>
                  <a:srgbClr val="000000"/>
                </a:solidFill>
                <a:latin typeface="KG Primary Penmanship"/>
                <a:ea typeface="KG Primary Penmanship"/>
                <a:cs typeface="KG Primary Penmanship"/>
                <a:sym typeface="KG Primary Penmanship"/>
              </a:rPr>
              <a:t>During development, we faced issues such as email restrictions in AWS SES sandbox mode and API connection errors. These were resolved by verifying emails and properly configuring the API.</a:t>
            </a:r>
          </a:p>
        </p:txBody>
      </p:sp>
      <p:sp>
        <p:nvSpPr>
          <p:cNvPr id="13" name="Freeform 13"/>
          <p:cNvSpPr/>
          <p:nvPr/>
        </p:nvSpPr>
        <p:spPr>
          <a:xfrm>
            <a:off x="0" y="0"/>
            <a:ext cx="2296991" cy="997440"/>
          </a:xfrm>
          <a:custGeom>
            <a:avLst/>
            <a:gdLst/>
            <a:ahLst/>
            <a:cxnLst/>
            <a:rect l="l" t="t" r="r" b="b"/>
            <a:pathLst>
              <a:path w="2296991" h="997440">
                <a:moveTo>
                  <a:pt x="0" y="0"/>
                </a:moveTo>
                <a:lnTo>
                  <a:pt x="2296991" y="0"/>
                </a:lnTo>
                <a:lnTo>
                  <a:pt x="2296991" y="997440"/>
                </a:lnTo>
                <a:lnTo>
                  <a:pt x="0" y="997440"/>
                </a:lnTo>
                <a:lnTo>
                  <a:pt x="0" y="0"/>
                </a:lnTo>
                <a:close/>
              </a:path>
            </a:pathLst>
          </a:custGeom>
          <a:blipFill>
            <a:blip r:embed="rId8"/>
            <a:stretch>
              <a:fillRect t="-30201"/>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sp>
          <p:nvSpPr>
            <p:cNvPr id="4" name="Freeform 4"/>
            <p:cNvSpPr/>
            <p:nvPr/>
          </p:nvSpPr>
          <p:spPr>
            <a:xfrm>
              <a:off x="1219200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50" r="-6250"/>
              </a:stretch>
            </a:blipFill>
          </p:spPr>
        </p:sp>
      </p:grpSp>
      <p:sp>
        <p:nvSpPr>
          <p:cNvPr id="5" name="TextBox 5"/>
          <p:cNvSpPr txBox="1"/>
          <p:nvPr/>
        </p:nvSpPr>
        <p:spPr>
          <a:xfrm>
            <a:off x="8669506" y="2700697"/>
            <a:ext cx="8589794" cy="1577412"/>
          </a:xfrm>
          <a:prstGeom prst="rect">
            <a:avLst/>
          </a:prstGeom>
        </p:spPr>
        <p:txBody>
          <a:bodyPr lIns="0" tIns="0" rIns="0" bIns="0" rtlCol="0" anchor="t">
            <a:spAutoFit/>
          </a:bodyPr>
          <a:lstStyle/>
          <a:p>
            <a:pPr algn="l">
              <a:lnSpc>
                <a:spcPts val="10840"/>
              </a:lnSpc>
            </a:pPr>
            <a:r>
              <a:rPr lang="en-US" sz="9509" b="1">
                <a:solidFill>
                  <a:srgbClr val="000000"/>
                </a:solidFill>
                <a:latin typeface="Times New Roman MT Bold"/>
                <a:ea typeface="Times New Roman MT Bold"/>
                <a:cs typeface="Times New Roman MT Bold"/>
                <a:sym typeface="Times New Roman MT Bold"/>
              </a:rPr>
              <a:t>Future Scope</a:t>
            </a:r>
          </a:p>
        </p:txBody>
      </p:sp>
      <p:sp>
        <p:nvSpPr>
          <p:cNvPr id="6" name="TextBox 6"/>
          <p:cNvSpPr txBox="1"/>
          <p:nvPr/>
        </p:nvSpPr>
        <p:spPr>
          <a:xfrm>
            <a:off x="8669506" y="4629628"/>
            <a:ext cx="8151007" cy="3051158"/>
          </a:xfrm>
          <a:prstGeom prst="rect">
            <a:avLst/>
          </a:prstGeom>
        </p:spPr>
        <p:txBody>
          <a:bodyPr lIns="0" tIns="0" rIns="0" bIns="0" rtlCol="0" anchor="t">
            <a:spAutoFit/>
          </a:bodyPr>
          <a:lstStyle/>
          <a:p>
            <a:pPr algn="l">
              <a:lnSpc>
                <a:spcPts val="4816"/>
              </a:lnSpc>
              <a:spcBef>
                <a:spcPct val="0"/>
              </a:spcBef>
            </a:pPr>
            <a:r>
              <a:rPr lang="en-US" sz="4013">
                <a:solidFill>
                  <a:srgbClr val="000000"/>
                </a:solidFill>
                <a:latin typeface="KG Primary Penmanship"/>
                <a:ea typeface="KG Primary Penmanship"/>
                <a:cs typeface="KG Primary Penmanship"/>
                <a:sym typeface="KG Primary Penmanship"/>
              </a:rPr>
              <a:t>In the future, this system can be enhanced by adding bulk email support using CSV files, integrating SMS notifications, and building a mobile application for better accessibility.</a:t>
            </a:r>
          </a:p>
          <a:p>
            <a:pPr algn="l">
              <a:lnSpc>
                <a:spcPts val="4816"/>
              </a:lnSpc>
              <a:spcBef>
                <a:spcPct val="0"/>
              </a:spcBef>
            </a:pPr>
            <a:endParaRPr lang="en-US" sz="4013">
              <a:solidFill>
                <a:srgbClr val="000000"/>
              </a:solidFill>
              <a:latin typeface="KG Primary Penmanship"/>
              <a:ea typeface="KG Primary Penmanship"/>
              <a:cs typeface="KG Primary Penmanship"/>
              <a:sym typeface="KG Primary Penmanship"/>
            </a:endParaRPr>
          </a:p>
        </p:txBody>
      </p:sp>
      <p:sp>
        <p:nvSpPr>
          <p:cNvPr id="7" name="Freeform 7"/>
          <p:cNvSpPr/>
          <p:nvPr/>
        </p:nvSpPr>
        <p:spPr>
          <a:xfrm>
            <a:off x="1333134" y="-5175202"/>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13333810" y="8872045"/>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564753" y="8306511"/>
            <a:ext cx="3271774" cy="1903578"/>
          </a:xfrm>
          <a:custGeom>
            <a:avLst/>
            <a:gdLst/>
            <a:ahLst/>
            <a:cxnLst/>
            <a:rect l="l" t="t" r="r" b="b"/>
            <a:pathLst>
              <a:path w="3271774" h="1903578">
                <a:moveTo>
                  <a:pt x="0" y="0"/>
                </a:moveTo>
                <a:lnTo>
                  <a:pt x="3271774" y="0"/>
                </a:lnTo>
                <a:lnTo>
                  <a:pt x="3271774" y="1903578"/>
                </a:lnTo>
                <a:lnTo>
                  <a:pt x="0" y="190357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rot="9878027">
            <a:off x="7120228" y="-156596"/>
            <a:ext cx="3098556" cy="1802796"/>
          </a:xfrm>
          <a:custGeom>
            <a:avLst/>
            <a:gdLst/>
            <a:ahLst/>
            <a:cxnLst/>
            <a:rect l="l" t="t" r="r" b="b"/>
            <a:pathLst>
              <a:path w="3098556" h="1802796">
                <a:moveTo>
                  <a:pt x="0" y="0"/>
                </a:moveTo>
                <a:lnTo>
                  <a:pt x="3098556" y="0"/>
                </a:lnTo>
                <a:lnTo>
                  <a:pt x="3098556" y="1802796"/>
                </a:lnTo>
                <a:lnTo>
                  <a:pt x="0" y="180279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1" name="Freeform 11"/>
          <p:cNvSpPr/>
          <p:nvPr/>
        </p:nvSpPr>
        <p:spPr>
          <a:xfrm>
            <a:off x="1699388" y="2841702"/>
            <a:ext cx="5295850" cy="4839083"/>
          </a:xfrm>
          <a:custGeom>
            <a:avLst/>
            <a:gdLst/>
            <a:ahLst/>
            <a:cxnLst/>
            <a:rect l="l" t="t" r="r" b="b"/>
            <a:pathLst>
              <a:path w="5295850" h="4839083">
                <a:moveTo>
                  <a:pt x="0" y="0"/>
                </a:moveTo>
                <a:lnTo>
                  <a:pt x="5295850" y="0"/>
                </a:lnTo>
                <a:lnTo>
                  <a:pt x="5295850" y="4839084"/>
                </a:lnTo>
                <a:lnTo>
                  <a:pt x="0" y="483908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2" name="Freeform 12"/>
          <p:cNvSpPr/>
          <p:nvPr/>
        </p:nvSpPr>
        <p:spPr>
          <a:xfrm>
            <a:off x="0" y="0"/>
            <a:ext cx="2296991" cy="997440"/>
          </a:xfrm>
          <a:custGeom>
            <a:avLst/>
            <a:gdLst/>
            <a:ahLst/>
            <a:cxnLst/>
            <a:rect l="l" t="t" r="r" b="b"/>
            <a:pathLst>
              <a:path w="2296991" h="997440">
                <a:moveTo>
                  <a:pt x="0" y="0"/>
                </a:moveTo>
                <a:lnTo>
                  <a:pt x="2296991" y="0"/>
                </a:lnTo>
                <a:lnTo>
                  <a:pt x="2296991" y="997440"/>
                </a:lnTo>
                <a:lnTo>
                  <a:pt x="0" y="997440"/>
                </a:lnTo>
                <a:lnTo>
                  <a:pt x="0" y="0"/>
                </a:lnTo>
                <a:close/>
              </a:path>
            </a:pathLst>
          </a:custGeom>
          <a:blipFill>
            <a:blip r:embed="rId7"/>
            <a:stretch>
              <a:fillRect t="-30201"/>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8100" y="0"/>
            <a:ext cx="18288000" cy="10287000"/>
            <a:chOff x="0" y="0"/>
            <a:chExt cx="24384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49" r="-6250"/>
              </a:stretch>
            </a:blipFill>
          </p:spPr>
        </p:sp>
        <p:sp>
          <p:nvSpPr>
            <p:cNvPr id="4" name="Freeform 4"/>
            <p:cNvSpPr/>
            <p:nvPr/>
          </p:nvSpPr>
          <p:spPr>
            <a:xfrm>
              <a:off x="12192000" y="0"/>
              <a:ext cx="12192000" cy="13716000"/>
            </a:xfrm>
            <a:custGeom>
              <a:avLst/>
              <a:gdLst/>
              <a:ahLst/>
              <a:cxnLst/>
              <a:rect l="l" t="t" r="r" b="b"/>
              <a:pathLst>
                <a:path w="12192000" h="13716000">
                  <a:moveTo>
                    <a:pt x="0" y="0"/>
                  </a:moveTo>
                  <a:lnTo>
                    <a:pt x="12192000" y="0"/>
                  </a:lnTo>
                  <a:lnTo>
                    <a:pt x="12192000" y="13716000"/>
                  </a:lnTo>
                  <a:lnTo>
                    <a:pt x="0" y="13716000"/>
                  </a:lnTo>
                  <a:lnTo>
                    <a:pt x="0" y="0"/>
                  </a:lnTo>
                  <a:close/>
                </a:path>
              </a:pathLst>
            </a:custGeom>
            <a:blipFill>
              <a:blip r:embed="rId2">
                <a:alphaModFix amt="61000"/>
              </a:blip>
              <a:stretch>
                <a:fillRect l="-6249" r="-6250"/>
              </a:stretch>
            </a:blipFill>
          </p:spPr>
        </p:sp>
      </p:grpSp>
      <p:sp>
        <p:nvSpPr>
          <p:cNvPr id="5" name="Freeform 5"/>
          <p:cNvSpPr/>
          <p:nvPr/>
        </p:nvSpPr>
        <p:spPr>
          <a:xfrm>
            <a:off x="-4947558" y="7964578"/>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6060099" y="-4991473"/>
            <a:ext cx="6576184" cy="6157700"/>
          </a:xfrm>
          <a:custGeom>
            <a:avLst/>
            <a:gdLst/>
            <a:ahLst/>
            <a:cxnLst/>
            <a:rect l="l" t="t" r="r" b="b"/>
            <a:pathLst>
              <a:path w="6576184" h="6157700">
                <a:moveTo>
                  <a:pt x="0" y="0"/>
                </a:moveTo>
                <a:lnTo>
                  <a:pt x="6576185" y="0"/>
                </a:lnTo>
                <a:lnTo>
                  <a:pt x="6576185" y="6157700"/>
                </a:lnTo>
                <a:lnTo>
                  <a:pt x="0" y="61577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1132344">
            <a:off x="6374477" y="7761828"/>
            <a:ext cx="2950993" cy="4070335"/>
          </a:xfrm>
          <a:custGeom>
            <a:avLst/>
            <a:gdLst/>
            <a:ahLst/>
            <a:cxnLst/>
            <a:rect l="l" t="t" r="r" b="b"/>
            <a:pathLst>
              <a:path w="2950993" h="4070335">
                <a:moveTo>
                  <a:pt x="0" y="0"/>
                </a:moveTo>
                <a:lnTo>
                  <a:pt x="2950993" y="0"/>
                </a:lnTo>
                <a:lnTo>
                  <a:pt x="2950993" y="4070335"/>
                </a:lnTo>
                <a:lnTo>
                  <a:pt x="0" y="407033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rot="-1301225">
            <a:off x="15381338" y="598284"/>
            <a:ext cx="2264015" cy="2606061"/>
          </a:xfrm>
          <a:custGeom>
            <a:avLst/>
            <a:gdLst/>
            <a:ahLst/>
            <a:cxnLst/>
            <a:rect l="l" t="t" r="r" b="b"/>
            <a:pathLst>
              <a:path w="2264015" h="2606061">
                <a:moveTo>
                  <a:pt x="0" y="0"/>
                </a:moveTo>
                <a:lnTo>
                  <a:pt x="2264016" y="0"/>
                </a:lnTo>
                <a:lnTo>
                  <a:pt x="2264016" y="2606061"/>
                </a:lnTo>
                <a:lnTo>
                  <a:pt x="0" y="260606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4520384" y="4299155"/>
            <a:ext cx="10205542" cy="1389503"/>
          </a:xfrm>
          <a:prstGeom prst="rect">
            <a:avLst/>
          </a:prstGeom>
        </p:spPr>
        <p:txBody>
          <a:bodyPr lIns="0" tIns="0" rIns="0" bIns="0" rtlCol="0" anchor="t">
            <a:spAutoFit/>
          </a:bodyPr>
          <a:lstStyle/>
          <a:p>
            <a:pPr algn="ctr">
              <a:lnSpc>
                <a:spcPts val="8915"/>
              </a:lnSpc>
            </a:pPr>
            <a:r>
              <a:rPr lang="en-US" sz="9484" b="1">
                <a:solidFill>
                  <a:srgbClr val="FFDE59"/>
                </a:solidFill>
                <a:latin typeface="Times New Roman MT Bold"/>
                <a:ea typeface="Times New Roman MT Bold"/>
                <a:cs typeface="Times New Roman MT Bold"/>
                <a:sym typeface="Times New Roman MT Bold"/>
              </a:rPr>
              <a:t>Thank You</a:t>
            </a:r>
          </a:p>
        </p:txBody>
      </p:sp>
      <p:grpSp>
        <p:nvGrpSpPr>
          <p:cNvPr id="10" name="Group 10"/>
          <p:cNvGrpSpPr/>
          <p:nvPr/>
        </p:nvGrpSpPr>
        <p:grpSpPr>
          <a:xfrm>
            <a:off x="5241014" y="3713787"/>
            <a:ext cx="9066062" cy="2492122"/>
            <a:chOff x="0" y="0"/>
            <a:chExt cx="3761377" cy="1033945"/>
          </a:xfrm>
        </p:grpSpPr>
        <p:sp>
          <p:nvSpPr>
            <p:cNvPr id="11" name="Freeform 11"/>
            <p:cNvSpPr/>
            <p:nvPr/>
          </p:nvSpPr>
          <p:spPr>
            <a:xfrm>
              <a:off x="0" y="0"/>
              <a:ext cx="3761377" cy="1033945"/>
            </a:xfrm>
            <a:custGeom>
              <a:avLst/>
              <a:gdLst/>
              <a:ahLst/>
              <a:cxnLst/>
              <a:rect l="l" t="t" r="r" b="b"/>
              <a:pathLst>
                <a:path w="3761377" h="1033945">
                  <a:moveTo>
                    <a:pt x="3558177" y="0"/>
                  </a:moveTo>
                  <a:cubicBezTo>
                    <a:pt x="3670401" y="0"/>
                    <a:pt x="3761377" y="231456"/>
                    <a:pt x="3761377" y="516973"/>
                  </a:cubicBezTo>
                  <a:cubicBezTo>
                    <a:pt x="3761377" y="802489"/>
                    <a:pt x="3670401" y="1033945"/>
                    <a:pt x="3558177" y="1033945"/>
                  </a:cubicBezTo>
                  <a:lnTo>
                    <a:pt x="203200" y="1033945"/>
                  </a:lnTo>
                  <a:cubicBezTo>
                    <a:pt x="90976" y="1033945"/>
                    <a:pt x="0" y="802489"/>
                    <a:pt x="0" y="516973"/>
                  </a:cubicBezTo>
                  <a:cubicBezTo>
                    <a:pt x="0" y="231456"/>
                    <a:pt x="90976" y="0"/>
                    <a:pt x="203200" y="0"/>
                  </a:cubicBezTo>
                  <a:close/>
                </a:path>
              </a:pathLst>
            </a:custGeom>
            <a:ln w="57150" cap="sq">
              <a:solidFill>
                <a:srgbClr val="000000"/>
              </a:solidFill>
              <a:prstDash val="solid"/>
              <a:miter/>
            </a:ln>
          </p:spPr>
        </p:sp>
        <p:sp>
          <p:nvSpPr>
            <p:cNvPr id="12" name="TextBox 12"/>
            <p:cNvSpPr txBox="1"/>
            <p:nvPr/>
          </p:nvSpPr>
          <p:spPr>
            <a:xfrm>
              <a:off x="0" y="-38100"/>
              <a:ext cx="3761377" cy="107204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rot="-1572213">
            <a:off x="1969240" y="8306511"/>
            <a:ext cx="3271774" cy="1903578"/>
          </a:xfrm>
          <a:custGeom>
            <a:avLst/>
            <a:gdLst/>
            <a:ahLst/>
            <a:cxnLst/>
            <a:rect l="l" t="t" r="r" b="b"/>
            <a:pathLst>
              <a:path w="3271774" h="1903578">
                <a:moveTo>
                  <a:pt x="0" y="0"/>
                </a:moveTo>
                <a:lnTo>
                  <a:pt x="3271774" y="0"/>
                </a:lnTo>
                <a:lnTo>
                  <a:pt x="3271774" y="1903578"/>
                </a:lnTo>
                <a:lnTo>
                  <a:pt x="0" y="1903578"/>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4" name="Freeform 14"/>
          <p:cNvSpPr/>
          <p:nvPr/>
        </p:nvSpPr>
        <p:spPr>
          <a:xfrm rot="9319146">
            <a:off x="11889684" y="264829"/>
            <a:ext cx="3098556" cy="1802796"/>
          </a:xfrm>
          <a:custGeom>
            <a:avLst/>
            <a:gdLst/>
            <a:ahLst/>
            <a:cxnLst/>
            <a:rect l="l" t="t" r="r" b="b"/>
            <a:pathLst>
              <a:path w="3098556" h="1802796">
                <a:moveTo>
                  <a:pt x="0" y="0"/>
                </a:moveTo>
                <a:lnTo>
                  <a:pt x="3098556" y="0"/>
                </a:lnTo>
                <a:lnTo>
                  <a:pt x="3098556" y="1802796"/>
                </a:lnTo>
                <a:lnTo>
                  <a:pt x="0" y="180279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5" name="Freeform 15"/>
          <p:cNvSpPr/>
          <p:nvPr/>
        </p:nvSpPr>
        <p:spPr>
          <a:xfrm>
            <a:off x="16663792" y="7208150"/>
            <a:ext cx="6576184" cy="6157700"/>
          </a:xfrm>
          <a:custGeom>
            <a:avLst/>
            <a:gdLst/>
            <a:ahLst/>
            <a:cxnLst/>
            <a:rect l="l" t="t" r="r" b="b"/>
            <a:pathLst>
              <a:path w="6576184" h="6157700">
                <a:moveTo>
                  <a:pt x="0" y="0"/>
                </a:moveTo>
                <a:lnTo>
                  <a:pt x="6576184" y="0"/>
                </a:lnTo>
                <a:lnTo>
                  <a:pt x="6576184" y="6157700"/>
                </a:lnTo>
                <a:lnTo>
                  <a:pt x="0" y="6157700"/>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6" name="Freeform 16"/>
          <p:cNvSpPr/>
          <p:nvPr/>
        </p:nvSpPr>
        <p:spPr>
          <a:xfrm>
            <a:off x="-5180061" y="-2806651"/>
            <a:ext cx="6576184" cy="6157700"/>
          </a:xfrm>
          <a:custGeom>
            <a:avLst/>
            <a:gdLst/>
            <a:ahLst/>
            <a:cxnLst/>
            <a:rect l="l" t="t" r="r" b="b"/>
            <a:pathLst>
              <a:path w="6576184" h="6157700">
                <a:moveTo>
                  <a:pt x="0" y="0"/>
                </a:moveTo>
                <a:lnTo>
                  <a:pt x="6576185" y="0"/>
                </a:lnTo>
                <a:lnTo>
                  <a:pt x="6576185" y="6157700"/>
                </a:lnTo>
                <a:lnTo>
                  <a:pt x="0" y="6157700"/>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7" name="Freeform 17"/>
          <p:cNvSpPr/>
          <p:nvPr/>
        </p:nvSpPr>
        <p:spPr>
          <a:xfrm>
            <a:off x="209479" y="4389470"/>
            <a:ext cx="4025154" cy="2636476"/>
          </a:xfrm>
          <a:custGeom>
            <a:avLst/>
            <a:gdLst/>
            <a:ahLst/>
            <a:cxnLst/>
            <a:rect l="l" t="t" r="r" b="b"/>
            <a:pathLst>
              <a:path w="4025154" h="2636476">
                <a:moveTo>
                  <a:pt x="0" y="0"/>
                </a:moveTo>
                <a:lnTo>
                  <a:pt x="4025155" y="0"/>
                </a:lnTo>
                <a:lnTo>
                  <a:pt x="4025155" y="2636477"/>
                </a:lnTo>
                <a:lnTo>
                  <a:pt x="0" y="2636477"/>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8" name="Freeform 18"/>
          <p:cNvSpPr/>
          <p:nvPr/>
        </p:nvSpPr>
        <p:spPr>
          <a:xfrm rot="-1345632">
            <a:off x="1745701" y="164487"/>
            <a:ext cx="3718852" cy="3653772"/>
          </a:xfrm>
          <a:custGeom>
            <a:avLst/>
            <a:gdLst/>
            <a:ahLst/>
            <a:cxnLst/>
            <a:rect l="l" t="t" r="r" b="b"/>
            <a:pathLst>
              <a:path w="3718852" h="3653772">
                <a:moveTo>
                  <a:pt x="0" y="0"/>
                </a:moveTo>
                <a:lnTo>
                  <a:pt x="3718852" y="0"/>
                </a:lnTo>
                <a:lnTo>
                  <a:pt x="3718852" y="3653772"/>
                </a:lnTo>
                <a:lnTo>
                  <a:pt x="0" y="3653772"/>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19" name="Freeform 19"/>
          <p:cNvSpPr/>
          <p:nvPr/>
        </p:nvSpPr>
        <p:spPr>
          <a:xfrm rot="1263584">
            <a:off x="12790591" y="7434405"/>
            <a:ext cx="2279868" cy="3647790"/>
          </a:xfrm>
          <a:custGeom>
            <a:avLst/>
            <a:gdLst/>
            <a:ahLst/>
            <a:cxnLst/>
            <a:rect l="l" t="t" r="r" b="b"/>
            <a:pathLst>
              <a:path w="2279868" h="3647790">
                <a:moveTo>
                  <a:pt x="0" y="0"/>
                </a:moveTo>
                <a:lnTo>
                  <a:pt x="2279869" y="0"/>
                </a:lnTo>
                <a:lnTo>
                  <a:pt x="2279869" y="3647790"/>
                </a:lnTo>
                <a:lnTo>
                  <a:pt x="0" y="3647790"/>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20" name="Freeform 20"/>
          <p:cNvSpPr/>
          <p:nvPr/>
        </p:nvSpPr>
        <p:spPr>
          <a:xfrm rot="-642757">
            <a:off x="15249179" y="3845901"/>
            <a:ext cx="3669058" cy="2930660"/>
          </a:xfrm>
          <a:custGeom>
            <a:avLst/>
            <a:gdLst/>
            <a:ahLst/>
            <a:cxnLst/>
            <a:rect l="l" t="t" r="r" b="b"/>
            <a:pathLst>
              <a:path w="3669058" h="2930660">
                <a:moveTo>
                  <a:pt x="0" y="0"/>
                </a:moveTo>
                <a:lnTo>
                  <a:pt x="3669057" y="0"/>
                </a:lnTo>
                <a:lnTo>
                  <a:pt x="3669057" y="2930659"/>
                </a:lnTo>
                <a:lnTo>
                  <a:pt x="0" y="2930659"/>
                </a:lnTo>
                <a:lnTo>
                  <a:pt x="0" y="0"/>
                </a:lnTo>
                <a:close/>
              </a:path>
            </a:pathLst>
          </a:custGeom>
          <a:blipFill>
            <a:blip>
              <a:extLst>
                <a:ext uri="{96DAC541-7B7A-43D3-8B79-37D633B846F1}">
                  <asvg:svgBlip xmlns:asvg="http://schemas.microsoft.com/office/drawing/2016/SVG/main" r:embed="rId1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426</Words>
  <Application>Microsoft Office PowerPoint</Application>
  <PresentationFormat>Custom</PresentationFormat>
  <Paragraphs>31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KG Primary Penmanship</vt:lpstr>
      <vt:lpstr>Arial</vt:lpstr>
      <vt:lpstr>Alice</vt:lpstr>
      <vt:lpstr>Times New Roman MT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Yellow and White Illustrated Cloud Storage Presentation</dc:title>
  <dc:creator>jayakrishna</dc:creator>
  <cp:lastModifiedBy>KALISITI JAYAKRISHNA</cp:lastModifiedBy>
  <cp:revision>1</cp:revision>
  <dcterms:created xsi:type="dcterms:W3CDTF">2006-08-16T00:00:00Z</dcterms:created>
  <dcterms:modified xsi:type="dcterms:W3CDTF">2026-04-05T05:48:24Z</dcterms:modified>
  <dc:identifier>DAHFCLGhB6g</dc:identifier>
</cp:coreProperties>
</file>